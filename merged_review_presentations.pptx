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2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55f48f911b74adb" /><Relationship Type="http://schemas.openxmlformats.org/package/2006/relationships/metadata/core-properties" Target="/docProps/core.xml" Id="R23541c0b310c4cba" /><Relationship Type="http://schemas.openxmlformats.org/officeDocument/2006/relationships/extended-properties" Target="/docProps/app.xml" Id="R77e5b2682ba944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c929339c403843e8"/>
    <p:sldMasterId id="2147483660" r:id="Ree50ae786d86448b"/>
  </p:sldMasterIdLst>
  <p:sldIdLst>
    <p:sldId id="256" r:id="R4653468a0e254f7e"/>
    <p:sldId id="257" r:id="R65b0081bca9a4fda"/>
    <p:sldId id="258" r:id="Rc30c2d30ef05438a"/>
    <p:sldId id="259" r:id="Re10b79ba1448492e"/>
    <p:sldId id="260" r:id="Rbb2d4f65ecdb4c4c"/>
    <p:sldId id="261" r:id="Refe15b1d5fa0461c"/>
    <p:sldId id="262" r:id="Rf417a62e5b1f4bfc"/>
    <p:sldId id="263" r:id="R9e5129d4b6634217"/>
    <p:sldId id="264" r:id="Rb930e04e20554958"/>
    <p:sldId id="265" r:id="Rcaf747133ba64a91"/>
    <p:sldId id="266" r:id="R8dd39f8fa8764811"/>
    <p:sldId id="267" r:id="Rb739076f85d74b76"/>
    <p:sldId id="268" r:id="R17764bd04b0243db"/>
    <p:sldId id="269" r:id="R20ba0b98337b49b4"/>
    <p:sldId id="270" r:id="R960830e1254d4475"/>
    <p:sldId id="271" r:id="R1d4f3289dafe4ba8"/>
    <p:sldId id="272" r:id="R18ae0f9de1ae43cd"/>
    <p:sldId id="273" r:id="Rbeb352ef2ad24af4"/>
    <p:sldId id="274" r:id="Rae07221d2e524f80"/>
    <p:sldId id="275" r:id="R1d340f3c2e754d08"/>
    <p:sldId id="276" r:id="R428d1dbc6045456f"/>
    <p:sldId id="277" r:id="Rabd4adc44c1546cc"/>
    <p:sldId id="278" r:id="Rb8ef6196dd8f45bd"/>
    <p:sldId id="279" r:id="Re74d1e4229d64c12"/>
    <p:sldId id="280" r:id="R870bb27780da4d54"/>
    <p:sldId id="281" r:id="R3da26e5b30a74fd6"/>
    <p:sldId id="282" r:id="Rff47537b854a4249"/>
    <p:sldId id="283" r:id="R2b084d5caa3d4284"/>
    <p:sldId id="284" r:id="R79957039c9d44507"/>
    <p:sldId id="285" r:id="Rb4fd4ed2ebed481d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c27d0942bf1b430d" /><Relationship Type="http://schemas.openxmlformats.org/officeDocument/2006/relationships/viewProps" Target="/ppt/viewProps.xml" Id="R231763ccb7894926" /><Relationship Type="http://schemas.openxmlformats.org/officeDocument/2006/relationships/slideMaster" Target="/ppt/slideMasters/slideMaster1.xml" Id="Rc929339c403843e8" /><Relationship Type="http://schemas.openxmlformats.org/officeDocument/2006/relationships/theme" Target="/ppt/slideMasters/theme/theme1.xml" Id="Re80243939e1c406d" /><Relationship Type="http://schemas.openxmlformats.org/officeDocument/2006/relationships/slide" Target="/ppt/slides/slide1.xml" Id="R4653468a0e254f7e" /><Relationship Type="http://schemas.openxmlformats.org/officeDocument/2006/relationships/slide" Target="/ppt/slides/slide2.xml" Id="R65b0081bca9a4fda" /><Relationship Type="http://schemas.openxmlformats.org/officeDocument/2006/relationships/slide" Target="/ppt/slides/slide3.xml" Id="Rc30c2d30ef05438a" /><Relationship Type="http://schemas.openxmlformats.org/officeDocument/2006/relationships/slide" Target="/ppt/slides/slide4.xml" Id="Re10b79ba1448492e" /><Relationship Type="http://schemas.openxmlformats.org/officeDocument/2006/relationships/slide" Target="/ppt/slides/slide5.xml" Id="Rbb2d4f65ecdb4c4c" /><Relationship Type="http://schemas.openxmlformats.org/officeDocument/2006/relationships/slide" Target="/ppt/slides/slide6.xml" Id="Refe15b1d5fa0461c" /><Relationship Type="http://schemas.openxmlformats.org/officeDocument/2006/relationships/slide" Target="/ppt/slides/slide7.xml" Id="Rf417a62e5b1f4bfc" /><Relationship Type="http://schemas.openxmlformats.org/officeDocument/2006/relationships/slide" Target="/ppt/slides/slide8.xml" Id="R9e5129d4b6634217" /><Relationship Type="http://schemas.openxmlformats.org/officeDocument/2006/relationships/slideMaster" Target="/ppt/slideMasters/slideMaster2.xml" Id="Ree50ae786d86448b" /><Relationship Type="http://schemas.openxmlformats.org/officeDocument/2006/relationships/slide" Target="/ppt/slides/slide9.xml" Id="Rb930e04e20554958" /><Relationship Type="http://schemas.openxmlformats.org/officeDocument/2006/relationships/slide" Target="/ppt/slides/slide10.xml" Id="Rcaf747133ba64a91" /><Relationship Type="http://schemas.openxmlformats.org/officeDocument/2006/relationships/slide" Target="/ppt/slides/slide11.xml" Id="R8dd39f8fa8764811" /><Relationship Type="http://schemas.openxmlformats.org/officeDocument/2006/relationships/slide" Target="/ppt/slides/slide12.xml" Id="Rb739076f85d74b76" /><Relationship Type="http://schemas.openxmlformats.org/officeDocument/2006/relationships/slide" Target="/ppt/slides/slide13.xml" Id="R17764bd04b0243db" /><Relationship Type="http://schemas.openxmlformats.org/officeDocument/2006/relationships/slide" Target="/ppt/slides/slide14.xml" Id="R20ba0b98337b49b4" /><Relationship Type="http://schemas.openxmlformats.org/officeDocument/2006/relationships/slide" Target="/ppt/slides/slide15.xml" Id="R960830e1254d4475" /><Relationship Type="http://schemas.openxmlformats.org/officeDocument/2006/relationships/slide" Target="/ppt/slides/slide16.xml" Id="R1d4f3289dafe4ba8" /><Relationship Type="http://schemas.openxmlformats.org/officeDocument/2006/relationships/slide" Target="/ppt/slides/slide17.xml" Id="R18ae0f9de1ae43cd" /><Relationship Type="http://schemas.openxmlformats.org/officeDocument/2006/relationships/slide" Target="/ppt/slides/slide18.xml" Id="Rbeb352ef2ad24af4" /><Relationship Type="http://schemas.openxmlformats.org/officeDocument/2006/relationships/slide" Target="/ppt/slides/slide19.xml" Id="Rae07221d2e524f80" /><Relationship Type="http://schemas.openxmlformats.org/officeDocument/2006/relationships/slide" Target="/ppt/slides/slide20.xml" Id="R1d340f3c2e754d08" /><Relationship Type="http://schemas.openxmlformats.org/officeDocument/2006/relationships/slide" Target="/ppt/slides/slide21.xml" Id="R428d1dbc6045456f" /><Relationship Type="http://schemas.openxmlformats.org/officeDocument/2006/relationships/slide" Target="/ppt/slides/slide22.xml" Id="Rabd4adc44c1546cc" /><Relationship Type="http://schemas.openxmlformats.org/officeDocument/2006/relationships/slide" Target="/ppt/slides/slide23.xml" Id="Rb8ef6196dd8f45bd" /><Relationship Type="http://schemas.openxmlformats.org/officeDocument/2006/relationships/slide" Target="/ppt/slides/slide24.xml" Id="Re74d1e4229d64c12" /><Relationship Type="http://schemas.openxmlformats.org/officeDocument/2006/relationships/slide" Target="/ppt/slides/slide25.xml" Id="R870bb27780da4d54" /><Relationship Type="http://schemas.openxmlformats.org/officeDocument/2006/relationships/slide" Target="/ppt/slides/slide26.xml" Id="R3da26e5b30a74fd6" /><Relationship Type="http://schemas.openxmlformats.org/officeDocument/2006/relationships/slide" Target="/ppt/slides/slide27.xml" Id="Rff47537b854a4249" /><Relationship Type="http://schemas.openxmlformats.org/officeDocument/2006/relationships/slide" Target="/ppt/slides/slide28.xml" Id="R2b084d5caa3d4284" /><Relationship Type="http://schemas.openxmlformats.org/officeDocument/2006/relationships/slide" Target="/ppt/slides/slide29.xml" Id="R79957039c9d44507" /><Relationship Type="http://schemas.openxmlformats.org/officeDocument/2006/relationships/slide" Target="/ppt/slides/slide30.xml" Id="Rb4fd4ed2ebed48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45e69480644c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1952480a5e4d62" 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7c1e7e2208149c5" /><Relationship Type="http://schemas.openxmlformats.org/officeDocument/2006/relationships/slideLayout" Target="/ppt/slideLayouts/slideLayout3.xml" Id="Rd6eb6bd907144d5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ef266bffb4a47" /><Relationship Type="http://schemas.openxmlformats.org/officeDocument/2006/relationships/slideLayout" Target="/ppt/slideLayouts/slideLayout12.xml" Id="R7c3d98d2f9464eb9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d6eb6bd907144d5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7c3d98d2f9464eb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Redec31ece7a7402b" /><Relationship Type="http://schemas.openxmlformats.org/officeDocument/2006/relationships/image" Target="/ppt/media/image2.png" Id="R8a32634e5ed548f3" /><Relationship Type="http://schemas.openxmlformats.org/officeDocument/2006/relationships/image" Target="/ppt/media/image3.png" Id="R627951637d124eec" /><Relationship Type="http://schemas.openxmlformats.org/officeDocument/2006/relationships/image" Target="/ppt/media/image4.png" Id="Raa811e7adf9d4232" /><Relationship Type="http://schemas.openxmlformats.org/officeDocument/2006/relationships/image" Target="/ppt/media/image5.png" Id="Rcb226c83362149f4" /><Relationship Type="http://schemas.openxmlformats.org/officeDocument/2006/relationships/image" Target="/ppt/media/image6.png" Id="R5db319a2e4b34639" /><Relationship Type="http://schemas.openxmlformats.org/officeDocument/2006/relationships/image" Target="/ppt/media/image7.png" Id="R3b7c1d509d2f47c7" /><Relationship Type="http://schemas.openxmlformats.org/officeDocument/2006/relationships/slideLayout" Target="/ppt/slideLayouts/slideLayout3.xml" Id="R501e5d4ac42e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png" Id="R2bc7e136ec894ebc" /><Relationship Type="http://schemas.openxmlformats.org/officeDocument/2006/relationships/image" Target="/ppt/media/image8.png" Id="R7ae723f4ef724d43" /><Relationship Type="http://schemas.openxmlformats.org/officeDocument/2006/relationships/image" Target="/ppt/media/image9.png" Id="Rb8c9c21a4fe94c58" /><Relationship Type="http://schemas.openxmlformats.org/officeDocument/2006/relationships/slideLayout" Target="/ppt/slideLayouts/slideLayout3.xml" Id="R067627b54e66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png" Id="R8b47742d7e9e4639" /><Relationship Type="http://schemas.openxmlformats.org/officeDocument/2006/relationships/image" Target="/ppt/media/image10.png" Id="Rd41a900ee70f4423" /><Relationship Type="http://schemas.openxmlformats.org/officeDocument/2006/relationships/image" Target="/ppt/media/image11.png" Id="Rb178674736304e8b" /><Relationship Type="http://schemas.openxmlformats.org/officeDocument/2006/relationships/image" Target="/ppt/media/image12.png" Id="R6e3c4330c5514a44" /><Relationship Type="http://schemas.openxmlformats.org/officeDocument/2006/relationships/image" Target="/ppt/media/image13.png" Id="Ra5757007303146b0" /><Relationship Type="http://schemas.openxmlformats.org/officeDocument/2006/relationships/image" Target="/ppt/media/image14.png" Id="R8b06af90c852403f" /><Relationship Type="http://schemas.openxmlformats.org/officeDocument/2006/relationships/image" Target="/ppt/media/image15.png" Id="Rb711f2ee366e4e95" /><Relationship Type="http://schemas.openxmlformats.org/officeDocument/2006/relationships/image" Target="/ppt/media/image16.png" Id="Re9694d34b7c54f65" /><Relationship Type="http://schemas.openxmlformats.org/officeDocument/2006/relationships/image" Target="/ppt/media/image17.png" Id="Rf576c69024cb4f54" /><Relationship Type="http://schemas.openxmlformats.org/officeDocument/2006/relationships/image" Target="/ppt/media/image18.png" Id="R0b33a33852a94364" /><Relationship Type="http://schemas.openxmlformats.org/officeDocument/2006/relationships/image" Target="/ppt/media/image19.png" Id="Rc97f392857cf4f1a" /><Relationship Type="http://schemas.openxmlformats.org/officeDocument/2006/relationships/slideLayout" Target="/ppt/slideLayouts/slideLayout3.xml" Id="R1757757aef11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.png" Id="R10e1b964f48d4191" /><Relationship Type="http://schemas.openxmlformats.org/officeDocument/2006/relationships/image" Target="/ppt/media/image20.png" Id="R3ec14864e694423d" /><Relationship Type="http://schemas.openxmlformats.org/officeDocument/2006/relationships/image" Target="/ppt/media/image21.png" Id="Rc8c59f389331453e" /><Relationship Type="http://schemas.openxmlformats.org/officeDocument/2006/relationships/image" Target="/ppt/media/image22.png" Id="Raed5f3598f6d423f" /><Relationship Type="http://schemas.openxmlformats.org/officeDocument/2006/relationships/image" Target="/ppt/media/image23.png" Id="R9e649c60022445cd" /><Relationship Type="http://schemas.openxmlformats.org/officeDocument/2006/relationships/image" Target="/ppt/media/image24.png" Id="R6fd6b81c75274251" /><Relationship Type="http://schemas.openxmlformats.org/officeDocument/2006/relationships/image" Target="/ppt/media/image25.png" Id="R8c92b5e62b2b439e" /><Relationship Type="http://schemas.openxmlformats.org/officeDocument/2006/relationships/image" Target="/ppt/media/image26.png" Id="R0564d3d5b19f4df0" /><Relationship Type="http://schemas.openxmlformats.org/officeDocument/2006/relationships/image" Target="/ppt/media/image27.png" Id="R595a76bac2044d3b" /><Relationship Type="http://schemas.openxmlformats.org/officeDocument/2006/relationships/image" Target="/ppt/media/image28.png" Id="Rbfa5cc7e3afe42df" /><Relationship Type="http://schemas.openxmlformats.org/officeDocument/2006/relationships/slideLayout" Target="/ppt/slideLayouts/slideLayout3.xml" Id="Rd0e507cda18a46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.png" Id="Rde122360ed6c4770" /><Relationship Type="http://schemas.openxmlformats.org/officeDocument/2006/relationships/image" Target="/ppt/media/image29.png" Id="Re58f6b19bc834ef1" /><Relationship Type="http://schemas.openxmlformats.org/officeDocument/2006/relationships/image" Target="/ppt/media/image30.png" Id="R897ea4d42bb843a2" /><Relationship Type="http://schemas.openxmlformats.org/officeDocument/2006/relationships/image" Target="/ppt/media/image31.png" Id="R5aaa0c4ebe3d4990" /><Relationship Type="http://schemas.openxmlformats.org/officeDocument/2006/relationships/image" Target="/ppt/media/image32.png" Id="Re59192d09f2d42c6" /><Relationship Type="http://schemas.openxmlformats.org/officeDocument/2006/relationships/image" Target="/ppt/media/image33.png" Id="R3751f0a4dfe840f6" /><Relationship Type="http://schemas.openxmlformats.org/officeDocument/2006/relationships/image" Target="/ppt/media/image34.png" Id="R5230aaba2d304d7b" /><Relationship Type="http://schemas.openxmlformats.org/officeDocument/2006/relationships/image" Target="/ppt/media/image35.png" Id="Rd47f3aacba724811" /><Relationship Type="http://schemas.openxmlformats.org/officeDocument/2006/relationships/image" Target="/ppt/media/image36.png" Id="R23487f1a781a4cc7" /><Relationship Type="http://schemas.openxmlformats.org/officeDocument/2006/relationships/image" Target="/ppt/media/image37.png" Id="Rc002c66d28b346b3" /><Relationship Type="http://schemas.openxmlformats.org/officeDocument/2006/relationships/image" Target="/ppt/media/image38.png" Id="Rcb86f7d415254d4f" /><Relationship Type="http://schemas.openxmlformats.org/officeDocument/2006/relationships/image" Target="/ppt/media/image39.png" Id="Reafad85aa1b9430e" /><Relationship Type="http://schemas.openxmlformats.org/officeDocument/2006/relationships/slideLayout" Target="/ppt/slideLayouts/slideLayout3.xml" Id="Rd7a82d1e364e41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.png" Id="R1ae9faf91487489f" /><Relationship Type="http://schemas.openxmlformats.org/officeDocument/2006/relationships/image" Target="/ppt/media/image40.png" Id="Rae1a314247d64ed7" /><Relationship Type="http://schemas.openxmlformats.org/officeDocument/2006/relationships/slideLayout" Target="/ppt/slideLayouts/slideLayout3.xml" Id="Re9c7ce59781146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.png" Id="R4f6631a5966942ff" /><Relationship Type="http://schemas.openxmlformats.org/officeDocument/2006/relationships/slideLayout" Target="/ppt/slideLayouts/slideLayout3.xml" Id="Rb75d2036d95d4e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.png" Id="R5e7cdcd8e70e4c84" /><Relationship Type="http://schemas.openxmlformats.org/officeDocument/2006/relationships/image" Target="/ppt/media/image41.png" Id="R66439bed8689479e" /><Relationship Type="http://schemas.openxmlformats.org/officeDocument/2006/relationships/image" Target="/ppt/media/image42.png" Id="Rb099bd6a1ea34afd" /><Relationship Type="http://schemas.openxmlformats.org/officeDocument/2006/relationships/image" Target="/ppt/media/image43.png" Id="R5ca97b04cc3845fd" /><Relationship Type="http://schemas.openxmlformats.org/officeDocument/2006/relationships/image" Target="/ppt/media/image44.png" Id="R732821f12b584895" /><Relationship Type="http://schemas.openxmlformats.org/officeDocument/2006/relationships/image" Target="/ppt/media/image45.png" Id="R89cd49c90b734401" /><Relationship Type="http://schemas.openxmlformats.org/officeDocument/2006/relationships/image" Target="/ppt/media/image46.png" Id="R8458a1d71dc34d13" /><Relationship Type="http://schemas.openxmlformats.org/officeDocument/2006/relationships/image" Target="/ppt/media/image47.png" Id="Rbfadfbfb12ff4f24" /><Relationship Type="http://schemas.openxmlformats.org/officeDocument/2006/relationships/image" Target="/ppt/media/image48.png" Id="R4885ebccad954da4" /><Relationship Type="http://schemas.openxmlformats.org/officeDocument/2006/relationships/slideLayout" Target="/ppt/slideLayouts/slideLayout3.xml" Id="Rbb39dbd5e2794e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49.png" Id="Rebce0a0389cd4846" /><Relationship Type="http://schemas.openxmlformats.org/officeDocument/2006/relationships/image" Target="/ppt/media/image50.png" Id="R9ceb36fd3f184423" /><Relationship Type="http://schemas.openxmlformats.org/officeDocument/2006/relationships/image" Target="/ppt/media/image51.png" Id="R494d749bdb7c4fa0" /><Relationship Type="http://schemas.openxmlformats.org/officeDocument/2006/relationships/image" Target="/ppt/media/image52.png" Id="Rb4590e59e91a4d18" /><Relationship Type="http://schemas.openxmlformats.org/officeDocument/2006/relationships/image" Target="/ppt/media/image53.png" Id="Rb819789124b9486b" /><Relationship Type="http://schemas.openxmlformats.org/officeDocument/2006/relationships/image" Target="/ppt/media/image54.png" Id="R1e966ae1a73d4f8e" /><Relationship Type="http://schemas.openxmlformats.org/officeDocument/2006/relationships/image" Target="/ppt/media/image55.png" Id="Re6f9419668b5425c" /><Relationship Type="http://schemas.openxmlformats.org/officeDocument/2006/relationships/image" Target="/ppt/media/image56.png" Id="Re8d5fdb5b20a4c6f" /><Relationship Type="http://schemas.openxmlformats.org/officeDocument/2006/relationships/image" Target="/ppt/media/image57.png" Id="R31a228c749984684" /><Relationship Type="http://schemas.openxmlformats.org/officeDocument/2006/relationships/image" Target="/ppt/media/image58.png" Id="Rd55cde4a2d8e46d6" /><Relationship Type="http://schemas.openxmlformats.org/officeDocument/2006/relationships/slideLayout" Target="/ppt/slideLayouts/slideLayout12.xml" Id="Re71ed39c39704b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49.png" Id="R06459fc0c0694e54" /><Relationship Type="http://schemas.openxmlformats.org/officeDocument/2006/relationships/image" Target="/ppt/media/image59.png" Id="Ree7f89e327a0414e" /><Relationship Type="http://schemas.openxmlformats.org/officeDocument/2006/relationships/image" Target="/ppt/media/image56.png" Id="R357b9977fd13463e" /><Relationship Type="http://schemas.openxmlformats.org/officeDocument/2006/relationships/image" Target="/ppt/media/image60.png" Id="Ra65865bf5c1a4a62" /><Relationship Type="http://schemas.openxmlformats.org/officeDocument/2006/relationships/slideLayout" Target="/ppt/slideLayouts/slideLayout12.xml" Id="R6721d3e6e78e4b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49.png" Id="Rb457ffc0dd75494f" /><Relationship Type="http://schemas.openxmlformats.org/officeDocument/2006/relationships/image" Target="/ppt/media/image61.png" Id="R57c473af4d104af2" /><Relationship Type="http://schemas.openxmlformats.org/officeDocument/2006/relationships/image" Target="/ppt/media/image62.png" Id="R470e9aa0894c469d" /><Relationship Type="http://schemas.openxmlformats.org/officeDocument/2006/relationships/image" Target="/ppt/media/image63.png" Id="Rff91de27d57f4fe6" /><Relationship Type="http://schemas.openxmlformats.org/officeDocument/2006/relationships/image" Target="/ppt/media/image56.png" Id="Rd8111a4b12354aa1" /><Relationship Type="http://schemas.openxmlformats.org/officeDocument/2006/relationships/image" Target="/ppt/media/image64.png" Id="R97cd6ff279df4d79" /><Relationship Type="http://schemas.openxmlformats.org/officeDocument/2006/relationships/image" Target="/ppt/media/image65.png" Id="R4e4e9b4e86c34d21" /><Relationship Type="http://schemas.openxmlformats.org/officeDocument/2006/relationships/image" Target="/ppt/media/image66.png" Id="R03adfe4650b24129" /><Relationship Type="http://schemas.openxmlformats.org/officeDocument/2006/relationships/image" Target="/ppt/media/image67.png" Id="Rcc8b10d3a37d4b80" /><Relationship Type="http://schemas.openxmlformats.org/officeDocument/2006/relationships/image" Target="/ppt/media/image68.png" Id="Rfe898e4d5cef4972" /><Relationship Type="http://schemas.openxmlformats.org/officeDocument/2006/relationships/image" Target="/ppt/media/image69.png" Id="R5363189fddf248c9" /><Relationship Type="http://schemas.openxmlformats.org/officeDocument/2006/relationships/image" Target="/ppt/media/image70.png" Id="Rd29b44f864fd44cc" /><Relationship Type="http://schemas.openxmlformats.org/officeDocument/2006/relationships/image" Target="/ppt/media/image71.png" Id="R94086621e10b461a" /><Relationship Type="http://schemas.openxmlformats.org/officeDocument/2006/relationships/image" Target="/ppt/media/image72.png" Id="R3c7b3d9fdabc4069" /><Relationship Type="http://schemas.openxmlformats.org/officeDocument/2006/relationships/image" Target="/ppt/media/image73.png" Id="R78468599defe472b" /><Relationship Type="http://schemas.openxmlformats.org/officeDocument/2006/relationships/slideLayout" Target="/ppt/slideLayouts/slideLayout12.xml" Id="Rf6679dc3845f43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49.png" Id="R74f5dd18888545e3" /><Relationship Type="http://schemas.openxmlformats.org/officeDocument/2006/relationships/image" Target="/ppt/media/image74.png" Id="R39e30dd281874a7a" /><Relationship Type="http://schemas.openxmlformats.org/officeDocument/2006/relationships/image" Target="/ppt/media/image75.png" Id="R835a95000753452d" /><Relationship Type="http://schemas.openxmlformats.org/officeDocument/2006/relationships/image" Target="/ppt/media/image76.png" Id="Rf73f9ec555154e2e" /><Relationship Type="http://schemas.openxmlformats.org/officeDocument/2006/relationships/image" Target="/ppt/media/image77.png" Id="R5a50759c4d624e56" /><Relationship Type="http://schemas.openxmlformats.org/officeDocument/2006/relationships/image" Target="/ppt/media/image56.png" Id="Rfc968958fd03400f" /><Relationship Type="http://schemas.openxmlformats.org/officeDocument/2006/relationships/image" Target="/ppt/media/image78.png" Id="Rfdd9be2966324a72" /><Relationship Type="http://schemas.openxmlformats.org/officeDocument/2006/relationships/image" Target="/ppt/media/image65.png" Id="R77021b944372419c" /><Relationship Type="http://schemas.openxmlformats.org/officeDocument/2006/relationships/image" Target="/ppt/media/image79.png" Id="Re3a887efb2d7413b" /><Relationship Type="http://schemas.openxmlformats.org/officeDocument/2006/relationships/image" Target="/ppt/media/image80.png" Id="Rf23f169a34d44800" /><Relationship Type="http://schemas.openxmlformats.org/officeDocument/2006/relationships/image" Target="/ppt/media/image81.png" Id="Re8bd97935a254c33" /><Relationship Type="http://schemas.openxmlformats.org/officeDocument/2006/relationships/image" Target="/ppt/media/image82.png" Id="Rfce73408eaf942cc" /><Relationship Type="http://schemas.openxmlformats.org/officeDocument/2006/relationships/image" Target="/ppt/media/image83.png" Id="R0ecb630c61384861" /><Relationship Type="http://schemas.openxmlformats.org/officeDocument/2006/relationships/slideLayout" Target="/ppt/slideLayouts/slideLayout12.xml" Id="R9fd5f4d5d2114a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49.png" Id="R81bb5dc00b20463d" /><Relationship Type="http://schemas.openxmlformats.org/officeDocument/2006/relationships/image" Target="/ppt/media/image84.png" Id="R146b24f264204aeb" /><Relationship Type="http://schemas.openxmlformats.org/officeDocument/2006/relationships/image" Target="/ppt/media/image56.png" Id="R3929bde5d4854ca2" /><Relationship Type="http://schemas.openxmlformats.org/officeDocument/2006/relationships/image" Target="/ppt/media/image85.png" Id="Rb58624afba214799" /><Relationship Type="http://schemas.openxmlformats.org/officeDocument/2006/relationships/image" Target="/ppt/media/image86.png" Id="R16a4cc4aed9c4397" /><Relationship Type="http://schemas.openxmlformats.org/officeDocument/2006/relationships/slideLayout" Target="/ppt/slideLayouts/slideLayout12.xml" Id="R864c5c0979404d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49.png" Id="R6115792b64404c1e" /><Relationship Type="http://schemas.openxmlformats.org/officeDocument/2006/relationships/image" Target="/ppt/media/image87.png" Id="Rea71be178c834e68" /><Relationship Type="http://schemas.openxmlformats.org/officeDocument/2006/relationships/image" Target="/ppt/media/image56.png" Id="Rce8dfb8e80d047bf" /><Relationship Type="http://schemas.openxmlformats.org/officeDocument/2006/relationships/image" Target="/ppt/media/image88.png" Id="R7eb0e51d15f2423a" /><Relationship Type="http://schemas.openxmlformats.org/officeDocument/2006/relationships/image" Target="/ppt/media/image89.png" Id="R6fbbf1086aae401b" /><Relationship Type="http://schemas.openxmlformats.org/officeDocument/2006/relationships/image" Target="/ppt/media/image90.png" Id="Rbae788049d8f418d" /><Relationship Type="http://schemas.openxmlformats.org/officeDocument/2006/relationships/image" Target="/ppt/media/image91.png" Id="Rb9ee02a04e3c451a" /><Relationship Type="http://schemas.openxmlformats.org/officeDocument/2006/relationships/image" Target="/ppt/media/image92.png" Id="R6e978820d4024d31" /><Relationship Type="http://schemas.openxmlformats.org/officeDocument/2006/relationships/image" Target="/ppt/media/image93.png" Id="R4a9644e665ad43cd" /><Relationship Type="http://schemas.openxmlformats.org/officeDocument/2006/relationships/slideLayout" Target="/ppt/slideLayouts/slideLayout12.xml" Id="R56e22470096a49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49.png" Id="Rd896f70e23e14c40" /><Relationship Type="http://schemas.openxmlformats.org/officeDocument/2006/relationships/image" Target="/ppt/media/image94.png" Id="R12cf64a5bbca40e9" /><Relationship Type="http://schemas.openxmlformats.org/officeDocument/2006/relationships/image" Target="/ppt/media/image95.png" Id="R2a6e47fa0a754323" /><Relationship Type="http://schemas.openxmlformats.org/officeDocument/2006/relationships/image" Target="/ppt/media/image96.png" Id="Rd8242dade2ad4222" /><Relationship Type="http://schemas.openxmlformats.org/officeDocument/2006/relationships/image" Target="/ppt/media/image56.png" Id="R93a9c874702d41c5" /><Relationship Type="http://schemas.openxmlformats.org/officeDocument/2006/relationships/image" Target="/ppt/media/image97.png" Id="R3b669beed91d4776" /><Relationship Type="http://schemas.openxmlformats.org/officeDocument/2006/relationships/image" Target="/ppt/media/image98.png" Id="R9e042fb3dd9a48e0" /><Relationship Type="http://schemas.openxmlformats.org/officeDocument/2006/relationships/image" Target="/ppt/media/image99.png" Id="R1949b30aa61b4a0e" /><Relationship Type="http://schemas.openxmlformats.org/officeDocument/2006/relationships/image" Target="/ppt/media/image100.png" Id="R86e96bf19fed4da6" /><Relationship Type="http://schemas.openxmlformats.org/officeDocument/2006/relationships/image" Target="/ppt/media/image101.png" Id="R9c6031cb70a54aec" /><Relationship Type="http://schemas.openxmlformats.org/officeDocument/2006/relationships/image" Target="/ppt/media/image102.png" Id="Rf28c37c3c4eb4223" /><Relationship Type="http://schemas.openxmlformats.org/officeDocument/2006/relationships/image" Target="/ppt/media/image103.png" Id="Raddac77e01ff4ca3" /><Relationship Type="http://schemas.openxmlformats.org/officeDocument/2006/relationships/slideLayout" Target="/ppt/slideLayouts/slideLayout12.xml" Id="R5760a7e8213243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49.png" Id="R557d58122dea4350" /><Relationship Type="http://schemas.openxmlformats.org/officeDocument/2006/relationships/image" Target="/ppt/media/image56.png" Id="R1769a356221e4327" /><Relationship Type="http://schemas.openxmlformats.org/officeDocument/2006/relationships/image" Target="/ppt/media/image104.png" Id="R70000141888046ee" /><Relationship Type="http://schemas.openxmlformats.org/officeDocument/2006/relationships/image" Target="/ppt/media/image105.png" Id="R90fe3d9c69c44dc3" /><Relationship Type="http://schemas.openxmlformats.org/officeDocument/2006/relationships/slideLayout" Target="/ppt/slideLayouts/slideLayout12.xml" Id="Rf8647fead16f4a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06.png" Id="R60c77915de4e4f99" /><Relationship Type="http://schemas.openxmlformats.org/officeDocument/2006/relationships/image" Target="/ppt/media/image107.png" Id="R0ae03680805b466c" /><Relationship Type="http://schemas.openxmlformats.org/officeDocument/2006/relationships/image" Target="/ppt/media/image108.png" Id="R4187d196d78844b9" /><Relationship Type="http://schemas.openxmlformats.org/officeDocument/2006/relationships/image" Target="/ppt/media/image109.png" Id="R8300c923136c46e9" /><Relationship Type="http://schemas.openxmlformats.org/officeDocument/2006/relationships/image" Target="/ppt/media/image110.png" Id="Rb00e513b8c7442c3" /><Relationship Type="http://schemas.openxmlformats.org/officeDocument/2006/relationships/image" Target="/ppt/media/image111.png" Id="Rbcc07e01075b4e28" /><Relationship Type="http://schemas.openxmlformats.org/officeDocument/2006/relationships/slideLayout" Target="/ppt/slideLayouts/slideLayout12.xml" Id="R3087ed2202b848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106.png" Id="Rd42493b2f11d4ed6" /><Relationship Type="http://schemas.openxmlformats.org/officeDocument/2006/relationships/image" Target="/ppt/media/image112.png" Id="R282bceedfc86479c" /><Relationship Type="http://schemas.openxmlformats.org/officeDocument/2006/relationships/image" Target="/ppt/media/image113.png" Id="Rc010c595eabd43f6" /><Relationship Type="http://schemas.openxmlformats.org/officeDocument/2006/relationships/image" Target="/ppt/media/image114.png" Id="R51fd009a4e824d18" /><Relationship Type="http://schemas.openxmlformats.org/officeDocument/2006/relationships/image" Target="/ppt/media/image115.png" Id="R216b092ec36a4b3c" /><Relationship Type="http://schemas.openxmlformats.org/officeDocument/2006/relationships/image" Target="/ppt/media/image116.png" Id="Rb2bde976fd1f4b95" /><Relationship Type="http://schemas.openxmlformats.org/officeDocument/2006/relationships/image" Target="/ppt/media/image117.png" Id="R6f51659848c4462b" /><Relationship Type="http://schemas.openxmlformats.org/officeDocument/2006/relationships/image" Target="/ppt/media/image118.png" Id="Rcf6623017aec4ce3" /><Relationship Type="http://schemas.openxmlformats.org/officeDocument/2006/relationships/image" Target="/ppt/media/image119.png" Id="R2779076fdf934c26" /><Relationship Type="http://schemas.openxmlformats.org/officeDocument/2006/relationships/slideLayout" Target="/ppt/slideLayouts/slideLayout12.xml" Id="R3fa77501675f4d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06.png" Id="Ree6dd177e2694535" /><Relationship Type="http://schemas.openxmlformats.org/officeDocument/2006/relationships/image" Target="/ppt/media/image120.png" Id="R1c12fa4cb2e04682" /><Relationship Type="http://schemas.openxmlformats.org/officeDocument/2006/relationships/image" Target="/ppt/media/image121.png" Id="R2d06b41229c04cc5" /><Relationship Type="http://schemas.openxmlformats.org/officeDocument/2006/relationships/image" Target="/ppt/media/image122.png" Id="R25d1a042738946ee" /><Relationship Type="http://schemas.openxmlformats.org/officeDocument/2006/relationships/slideLayout" Target="/ppt/slideLayouts/slideLayout12.xml" Id="R896fc7a0c96f4e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106.png" Id="R94d90bd5e6584f38" /><Relationship Type="http://schemas.openxmlformats.org/officeDocument/2006/relationships/image" Target="/ppt/media/image123.png" Id="Rb678383111424c1b" /><Relationship Type="http://schemas.openxmlformats.org/officeDocument/2006/relationships/image" Target="/ppt/media/image124.png" Id="Rc64a0fc356064955" /><Relationship Type="http://schemas.openxmlformats.org/officeDocument/2006/relationships/image" Target="/ppt/media/image125.png" Id="R715f8589d29e4e76" /><Relationship Type="http://schemas.openxmlformats.org/officeDocument/2006/relationships/image" Target="/ppt/media/image126.png" Id="R493f7f5822d74fb9" /><Relationship Type="http://schemas.openxmlformats.org/officeDocument/2006/relationships/image" Target="/ppt/media/image127.png" Id="R93d0700b6002442e" /><Relationship Type="http://schemas.openxmlformats.org/officeDocument/2006/relationships/image" Target="/ppt/media/image128.png" Id="Reccd3af4268b4ca3" /><Relationship Type="http://schemas.openxmlformats.org/officeDocument/2006/relationships/image" Target="/ppt/media/image129.png" Id="R1d0fa513d7f34cec" /><Relationship Type="http://schemas.openxmlformats.org/officeDocument/2006/relationships/image" Target="/ppt/media/image130.png" Id="Rb2e23d1ccda944ab" /><Relationship Type="http://schemas.openxmlformats.org/officeDocument/2006/relationships/slideLayout" Target="/ppt/slideLayouts/slideLayout12.xml" Id="Ra11a715a6fae4c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106.png" Id="R43d8a01422df4806" /><Relationship Type="http://schemas.openxmlformats.org/officeDocument/2006/relationships/image" Target="/ppt/media/image131.png" Id="R8d5997ae40f64d38" /><Relationship Type="http://schemas.openxmlformats.org/officeDocument/2006/relationships/image" Target="/ppt/media/image132.png" Id="R0305f52227044c3a" /><Relationship Type="http://schemas.openxmlformats.org/officeDocument/2006/relationships/slideLayout" Target="/ppt/slideLayouts/slideLayout12.xml" Id="R5a2eeb58c40849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106.png" Id="R77284206a24e426c" /><Relationship Type="http://schemas.openxmlformats.org/officeDocument/2006/relationships/image" Target="/ppt/media/image133.png" Id="Ra04ca9fc49604405" /><Relationship Type="http://schemas.openxmlformats.org/officeDocument/2006/relationships/image" Target="/ppt/media/image134.png" Id="R7684b8e25fa0424b" /><Relationship Type="http://schemas.openxmlformats.org/officeDocument/2006/relationships/slideLayout" Target="/ppt/slideLayouts/slideLayout12.xml" Id="R264b90f405ca4ba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106.png" Id="R7561150d929a4e16" /><Relationship Type="http://schemas.openxmlformats.org/officeDocument/2006/relationships/image" Target="/ppt/media/image135.png" Id="Re94e4ec150d64838" /><Relationship Type="http://schemas.openxmlformats.org/officeDocument/2006/relationships/image" Target="/ppt/media/image136.png" Id="Rbe0e0135c15448ca" /><Relationship Type="http://schemas.openxmlformats.org/officeDocument/2006/relationships/image" Target="/ppt/media/image137.png" Id="Rd3f0228a85c14e4a" /><Relationship Type="http://schemas.openxmlformats.org/officeDocument/2006/relationships/image" Target="/ppt/media/image138.png" Id="R5f8ab98b8de2476d" /><Relationship Type="http://schemas.openxmlformats.org/officeDocument/2006/relationships/image" Target="/ppt/media/image139.png" Id="R04468fee448a46aa" /><Relationship Type="http://schemas.openxmlformats.org/officeDocument/2006/relationships/image" Target="/ppt/media/image140.png" Id="Rdc40815cce004e3b" /><Relationship Type="http://schemas.openxmlformats.org/officeDocument/2006/relationships/image" Target="/ppt/media/image141.png" Id="R27e64650a7aa48d9" /><Relationship Type="http://schemas.openxmlformats.org/officeDocument/2006/relationships/image" Target="/ppt/media/image142.png" Id="Rebc51855468740cd" /><Relationship Type="http://schemas.openxmlformats.org/officeDocument/2006/relationships/slideLayout" Target="/ppt/slideLayouts/slideLayout12.xml" Id="Rda8d648a5bbf47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604c40bb4e46f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143.png" Id="Rb81423fe828c403b" /><Relationship Type="http://schemas.openxmlformats.org/officeDocument/2006/relationships/image" Target="/ppt/media/image144.png" Id="Rb4a94302d1d64cc3" /><Relationship Type="http://schemas.openxmlformats.org/officeDocument/2006/relationships/slideLayout" Target="/ppt/slideLayouts/slideLayout12.xml" Id="R63dda2345e134d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145.png" Id="R9d11f516033e4e95" /><Relationship Type="http://schemas.openxmlformats.org/officeDocument/2006/relationships/image" Target="/ppt/media/image146.png" Id="R9cd8c544dbdf4b1f" /><Relationship Type="http://schemas.openxmlformats.org/officeDocument/2006/relationships/image" Target="/ppt/media/image147.png" Id="R90bbce5825a94aac" /><Relationship Type="http://schemas.openxmlformats.org/officeDocument/2006/relationships/slideLayout" Target="/ppt/slideLayouts/slideLayout12.xml" Id="R2ccb33ef2b63490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703af78f1144a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148.png" Id="Re1912ecb0f0a4cfe" /><Relationship Type="http://schemas.openxmlformats.org/officeDocument/2006/relationships/image" Target="/ppt/media/image149.png" Id="R6c6422a8dd0248a7" /><Relationship Type="http://schemas.openxmlformats.org/officeDocument/2006/relationships/image" Target="/ppt/media/image150.png" Id="R7c4433d031a34e35" /><Relationship Type="http://schemas.openxmlformats.org/officeDocument/2006/relationships/slideLayout" Target="/ppt/slideLayouts/slideLayout12.xml" Id="R3e90d315f61c4f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151.png" Id="R87adeff493c24c97" /><Relationship Type="http://schemas.openxmlformats.org/officeDocument/2006/relationships/image" Target="/ppt/media/image152.png" Id="Rfd7a1e74173b4ce9" /><Relationship Type="http://schemas.openxmlformats.org/officeDocument/2006/relationships/image" Target="/ppt/media/image153.png" Id="Rab60d4e8fadb4a5d" /><Relationship Type="http://schemas.openxmlformats.org/officeDocument/2006/relationships/slideLayout" Target="/ppt/slideLayouts/slideLayout12.xml" Id="Rc41acc157f8643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ced2723019425b" /><Relationship Type="http://schemas.openxmlformats.org/officeDocument/2006/relationships/hyperlink" Target="https://github.com/s-yaswanthkumar/personal_finance_and_budget_management_system" TargetMode="External" Id="rcIdad9654f5713b4706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edec31ece7a7402b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8a32634e5ed548f3"/>
          <a:stretch>
            <a:fillRect/>
          </a:stretch>
        </p:blipFill>
        <p:spPr>
          <a:xfrm>
            <a:off x="581025" y="4575720"/>
            <a:ext cx="208404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627951637d124eec"/>
          <a:stretch>
            <a:fillRect/>
          </a:stretch>
        </p:blipFill>
        <p:spPr>
          <a:xfrm>
            <a:off x="2817465" y="4575720"/>
            <a:ext cx="2084040" cy="64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aa811e7adf9d4232"/>
          <a:stretch>
            <a:fillRect/>
          </a:stretch>
        </p:blipFill>
        <p:spPr>
          <a:xfrm>
            <a:off x="5053905" y="4575720"/>
            <a:ext cx="2084040" cy="647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cb226c83362149f4"/>
          <a:stretch>
            <a:fillRect/>
          </a:stretch>
        </p:blipFill>
        <p:spPr>
          <a:xfrm>
            <a:off x="7290345" y="4575720"/>
            <a:ext cx="208404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5db319a2e4b34639"/>
          <a:stretch>
            <a:fillRect/>
          </a:stretch>
        </p:blipFill>
        <p:spPr>
          <a:xfrm>
            <a:off x="9526785" y="4575720"/>
            <a:ext cx="2084040" cy="647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206079"/>
            <a:ext cx="11581447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Outfit"/>
              </a:rPr>
              <a:t>Personal Finance &amp;</a:t>
            </a:r>
            <a:r>
              <a:t>
</a:t>
            </a:r>
            <a:r>
              <a:rPr sz="4200" b="1" i="0" u="none">
                <a:solidFill>
                  <a:srgbClr val="FFFFFF"/>
                </a:solidFill>
                <a:latin typeface="Outfit"/>
              </a:rPr>
              <a:t> Budget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623220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Normalized Relational Database Solution for Real-Time Expense Tracking, Automated Budget Control, &amp; Financial Analytics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3b7c1d509d2f47c7"/>
          <a:stretch>
            <a:fillRect/>
          </a:stretch>
        </p:blipFill>
        <p:spPr>
          <a:xfrm>
            <a:off x="581025" y="1634579"/>
            <a:ext cx="2733675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S. Yaswanth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2510030264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844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Veda Praneeth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844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2510030069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488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Nikil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488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2510030358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132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M. Jashwanth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132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7760" y="4718595"/>
            <a:ext cx="172209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Ruthvik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760" y="4937670"/>
            <a:ext cx="1722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monospace"/>
              </a:rPr>
              <a:t>2510030348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2bc7e136ec894ebc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7ae723f4ef724d43"/>
          <a:stretch>
            <a:fillRect/>
          </a:stretch>
        </p:blipFill>
        <p:spPr>
          <a:xfrm>
            <a:off x="6286500" y="1990725"/>
            <a:ext cx="5324475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19716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1525" y="21240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Fragmented Records: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Manual tracking across cash, bank accounts, and credit cards leads to unorganized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28860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1525" y="30384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Lack of Active Budget Control: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Users overspend without real-time notifications before monthly limits are hit.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38004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39528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Data Redundancy &amp; Errors: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Traditional spreadsheets cause inconsistent records and duplicate entry risks.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4714875"/>
            <a:ext cx="5324475" cy="781050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1525" y="4867275"/>
            <a:ext cx="49434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4D399"/>
                </a:solidFill>
                <a:latin typeface="Plus Jakarta Sans"/>
              </a:rPr>
              <a:t>Slow Complex Queries: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Non-relational setups lack indexing and views, making analytical queries slow.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b8c9c21a4fe94c58"/>
          <a:stretch>
            <a:fillRect/>
          </a:stretch>
        </p:blipFill>
        <p:spPr>
          <a:xfrm>
            <a:off x="6296025" y="2000250"/>
            <a:ext cx="5305425" cy="36004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1025" y="27432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6576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720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486400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Problem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8b47742d7e9e463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d41a900ee70f4423"/>
          <a:stretch>
            <a:fillRect/>
          </a:stretch>
        </p:blipFill>
        <p:spPr>
          <a:xfrm>
            <a:off x="581025" y="2362200"/>
            <a:ext cx="2586037" cy="2876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b178674736304e8b"/>
          <a:stretch>
            <a:fillRect/>
          </a:stretch>
        </p:blipFill>
        <p:spPr>
          <a:xfrm>
            <a:off x="3395662" y="2362200"/>
            <a:ext cx="2586037" cy="2876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b178674736304e8b"/>
          <a:stretch>
            <a:fillRect/>
          </a:stretch>
        </p:blipFill>
        <p:spPr>
          <a:xfrm>
            <a:off x="6210300" y="2362200"/>
            <a:ext cx="2586037" cy="2876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6e3c4330c5514a44"/>
          <a:stretch>
            <a:fillRect/>
          </a:stretch>
        </p:blipFill>
        <p:spPr>
          <a:xfrm>
            <a:off x="9024937" y="2362200"/>
            <a:ext cx="2586037" cy="2876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a5757007303146b0"/>
          <a:stretch>
            <a:fillRect/>
          </a:stretch>
        </p:blipFill>
        <p:spPr>
          <a:xfrm>
            <a:off x="857250" y="2638425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3NF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76650"/>
            <a:ext cx="2033587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Design a clean relational database schema in Third Normal Form (3NF) to completely eliminate insertion, update, and deletion anomalies.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a5757007303146b0"/>
          <a:stretch>
            <a:fillRect/>
          </a:stretch>
        </p:blipFill>
        <p:spPr>
          <a:xfrm>
            <a:off x="3671887" y="263842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1887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Automated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887" y="3676650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Implement active SQL BEFORE INSERT and AFTER UPDATE triggers to update running account balances and fire budget alerts.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8b06af90c852403f"/>
          <a:stretch>
            <a:fillRect/>
          </a:stretch>
        </p:blipFill>
        <p:spPr>
          <a:xfrm>
            <a:off x="6486525" y="2638425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Aggregated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676650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Formulate optimized SQL views and stored procedures for instant monthly income/expense breakdowns and analytics.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b711f2ee366e4e95"/>
          <a:stretch>
            <a:fillRect/>
          </a:stretch>
        </p:blipFill>
        <p:spPr>
          <a:xfrm>
            <a:off x="9301162" y="2638425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1162" y="3324225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ACID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1162" y="3676650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Ensure fail-safe multi-account fund transfers and ledger posting with full transactional integrity and atomic rollbacks.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e9694d34b7c54f65"/>
          <a:stretch>
            <a:fillRect/>
          </a:stretch>
        </p:blipFill>
        <p:spPr>
          <a:xfrm>
            <a:off x="976312" y="2771775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f576c69024cb4f54"/>
          <a:stretch>
            <a:fillRect/>
          </a:stretch>
        </p:blipFill>
        <p:spPr>
          <a:xfrm>
            <a:off x="3819525" y="2771775"/>
            <a:ext cx="20002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0b33a33852a94364"/>
          <a:stretch>
            <a:fillRect/>
          </a:stretch>
        </p:blipFill>
        <p:spPr>
          <a:xfrm>
            <a:off x="6605587" y="2771775"/>
            <a:ext cx="2571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c97f392857cf4f1a"/>
          <a:stretch>
            <a:fillRect/>
          </a:stretch>
        </p:blipFill>
        <p:spPr>
          <a:xfrm>
            <a:off x="9434512" y="2771775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Project 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10e1b964f48d41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3ec14864e694423d"/>
          <a:stretch>
            <a:fillRect/>
          </a:stretch>
        </p:blipFill>
        <p:spPr>
          <a:xfrm>
            <a:off x="581025" y="2250281"/>
            <a:ext cx="2586037" cy="3100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c8c59f389331453e"/>
          <a:stretch>
            <a:fillRect/>
          </a:stretch>
        </p:blipFill>
        <p:spPr>
          <a:xfrm>
            <a:off x="3395662" y="2250281"/>
            <a:ext cx="2586037" cy="3100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aed5f3598f6d423f"/>
          <a:stretch>
            <a:fillRect/>
          </a:stretch>
        </p:blipFill>
        <p:spPr>
          <a:xfrm>
            <a:off x="6210300" y="2250281"/>
            <a:ext cx="2586037" cy="31003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9e649c60022445cd"/>
          <a:stretch>
            <a:fillRect/>
          </a:stretch>
        </p:blipFill>
        <p:spPr>
          <a:xfrm>
            <a:off x="9024937" y="2250281"/>
            <a:ext cx="2586037" cy="31003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6fd6b81c75274251"/>
          <a:stretch>
            <a:fillRect/>
          </a:stretch>
        </p:blipFill>
        <p:spPr>
          <a:xfrm>
            <a:off x="857250" y="2526506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DB-Enforced Budgeting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564731"/>
            <a:ext cx="2033587" cy="1509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Shifting budget limit enforcement directly to native BEFORE INSERT triggers, eliminating application-layer race conditions and overspending latency.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6fd6b81c75274251"/>
          <a:stretch>
            <a:fillRect/>
          </a:stretch>
        </p:blipFill>
        <p:spPr>
          <a:xfrm>
            <a:off x="3671887" y="2526506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71887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Atomic Fund Transfers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1887" y="3564731"/>
            <a:ext cx="2033587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Multi-account transfers executed via ACID-compliant stored procedures. Guarantees 100% data consistency with automated state rollback on failure.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6fd6b81c75274251"/>
          <a:stretch>
            <a:fillRect/>
          </a:stretch>
        </p:blipFill>
        <p:spPr>
          <a:xfrm>
            <a:off x="6486525" y="2526506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6525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Sub-20ms SQL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564731"/>
            <a:ext cx="2033587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Pre-calculated analytical views (vw_monthly_summary) paired with B-Tree composite indexes offload complex aggregations to the DB engine.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6fd6b81c75274251"/>
          <a:stretch>
            <a:fillRect/>
          </a:stretch>
        </p:blipFill>
        <p:spPr>
          <a:xfrm>
            <a:off x="9301162" y="2526506"/>
            <a:ext cx="495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01162" y="3212306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Zero-Redundancy 3NF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1162" y="3564731"/>
            <a:ext cx="2033587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Strict Third Normal Form architecture enforcing referential integrity across users, ledgers, categories, and budgets at the raw schema level.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8c92b5e62b2b439e"/>
          <a:stretch>
            <a:fillRect/>
          </a:stretch>
        </p:blipFill>
        <p:spPr>
          <a:xfrm>
            <a:off x="990600" y="2659856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0564d3d5b19f4df0"/>
          <a:stretch>
            <a:fillRect/>
          </a:stretch>
        </p:blipFill>
        <p:spPr>
          <a:xfrm>
            <a:off x="3819525" y="2659856"/>
            <a:ext cx="20002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595a76bac2044d3b"/>
          <a:stretch>
            <a:fillRect/>
          </a:stretch>
        </p:blipFill>
        <p:spPr>
          <a:xfrm>
            <a:off x="6619875" y="2659856"/>
            <a:ext cx="228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bfa5cc7e3afe42df"/>
          <a:stretch>
            <a:fillRect/>
          </a:stretch>
        </p:blipFill>
        <p:spPr>
          <a:xfrm>
            <a:off x="9448800" y="2659856"/>
            <a:ext cx="20002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Key System Novelties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de122360ed6c4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e58f6b19bc834ef1"/>
          <a:stretch>
            <a:fillRect/>
          </a:stretch>
        </p:blipFill>
        <p:spPr>
          <a:xfrm>
            <a:off x="581025" y="2469356"/>
            <a:ext cx="2586037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897ea4d42bb843a2"/>
          <a:stretch>
            <a:fillRect/>
          </a:stretch>
        </p:blipFill>
        <p:spPr>
          <a:xfrm>
            <a:off x="3395662" y="2469356"/>
            <a:ext cx="2586037" cy="2662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897ea4d42bb843a2"/>
          <a:stretch>
            <a:fillRect/>
          </a:stretch>
        </p:blipFill>
        <p:spPr>
          <a:xfrm>
            <a:off x="6210300" y="2469356"/>
            <a:ext cx="2586037" cy="2662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5aaa0c4ebe3d4990"/>
          <a:stretch>
            <a:fillRect/>
          </a:stretch>
        </p:blipFill>
        <p:spPr>
          <a:xfrm>
            <a:off x="9024937" y="2469356"/>
            <a:ext cx="2586037" cy="26622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e59192d09f2d42c6"/>
          <a:stretch>
            <a:fillRect/>
          </a:stretch>
        </p:blipFill>
        <p:spPr>
          <a:xfrm>
            <a:off x="857250" y="2745581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Database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783806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MySQL / PostgreSQL with B-Tree Indexes, Foreign Keys, Stored Procedures, Aggregated Views, &amp; Active Triggers.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3751f0a4dfe840f6"/>
          <a:stretch>
            <a:fillRect/>
          </a:stretch>
        </p:blipFill>
        <p:spPr>
          <a:xfrm>
            <a:off x="3671887" y="2745581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1887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Backend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887" y="3783806"/>
            <a:ext cx="20335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Python (Flask / FastAPI) with RESTful APIs, Connection Pooling, SQLAlchemy ORM, and Data Validation.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5230aaba2d304d7b"/>
          <a:stretch>
            <a:fillRect/>
          </a:stretch>
        </p:blipFill>
        <p:spPr>
          <a:xfrm>
            <a:off x="6486525" y="2745581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Frontend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783806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React.js + Tailwind CSS providing an Interactive Analytics Dashboard, Chart.js Visualizations, and Real-Time Feeds.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d47f3aacba724811"/>
          <a:stretch>
            <a:fillRect/>
          </a:stretch>
        </p:blipFill>
        <p:spPr>
          <a:xfrm>
            <a:off x="9301162" y="2745581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1162" y="3431381"/>
            <a:ext cx="21352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Outfit"/>
              </a:rPr>
              <a:t>Security &amp;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1162" y="3783806"/>
            <a:ext cx="203358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Bcrypt &amp; JWT Auth with Password Hashing, Role-Based Access Control (RBAC), and Git/GitHub Versioning.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23487f1a781a4cc7"/>
          <a:stretch>
            <a:fillRect/>
          </a:stretch>
        </p:blipFill>
        <p:spPr>
          <a:xfrm>
            <a:off x="1004887" y="2878931"/>
            <a:ext cx="20002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c002c66d28b346b3"/>
          <a:stretch>
            <a:fillRect/>
          </a:stretch>
        </p:blipFill>
        <p:spPr>
          <a:xfrm>
            <a:off x="3776662" y="2878931"/>
            <a:ext cx="2857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cb86f7d415254d4f"/>
          <a:stretch>
            <a:fillRect/>
          </a:stretch>
        </p:blipFill>
        <p:spPr>
          <a:xfrm>
            <a:off x="6605587" y="2878931"/>
            <a:ext cx="2571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eafad85aa1b9430e"/>
          <a:stretch>
            <a:fillRect/>
          </a:stretch>
        </p:blipFill>
        <p:spPr>
          <a:xfrm>
            <a:off x="9434512" y="2878931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1ae9faf91487489f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ae1a314247d64ed7"/>
          <a:stretch>
            <a:fillRect/>
          </a:stretch>
        </p:blipFill>
        <p:spPr>
          <a:xfrm>
            <a:off x="581025" y="2824162"/>
            <a:ext cx="2586037" cy="1952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ae1a314247d64ed7"/>
          <a:stretch>
            <a:fillRect/>
          </a:stretch>
        </p:blipFill>
        <p:spPr>
          <a:xfrm>
            <a:off x="3395662" y="2824162"/>
            <a:ext cx="2586037" cy="1952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ae1a314247d64ed7"/>
          <a:stretch>
            <a:fillRect/>
          </a:stretch>
        </p:blipFill>
        <p:spPr>
          <a:xfrm>
            <a:off x="6210300" y="2824162"/>
            <a:ext cx="2586037" cy="1952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ae1a314247d64ed7"/>
          <a:stretch>
            <a:fillRect/>
          </a:stretch>
        </p:blipFill>
        <p:spPr>
          <a:xfrm>
            <a:off x="9024937" y="2824162"/>
            <a:ext cx="2586037" cy="1952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ACID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967162"/>
            <a:ext cx="21859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Guaranteed data consistency during multi-table transaction transfers.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5687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&lt;20ms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5687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Query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687" y="3967162"/>
            <a:ext cx="21859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Rapid execution times via B-Tree indexing on primary &amp; foreign keys.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Zero Redundancy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967162"/>
            <a:ext cx="21859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Fully normalized relational schema eliminating duplicate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962" y="3119437"/>
            <a:ext cx="21859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>
                <a:solidFill>
                  <a:srgbClr val="34D399"/>
                </a:solidFill>
                <a:latin typeface="Outfit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4962" y="3671887"/>
            <a:ext cx="21859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Automated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4962" y="3967162"/>
            <a:ext cx="21859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Instant DB-level alerts triggered when category limits hit 80% &amp; 100%.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Expected Outcomes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4f6631a5966942ff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178843"/>
          <a:ext cx="11010898" cy="3243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3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4D399"/>
                          </a:solidFill>
                          <a:latin typeface="Outfit SemiBold"/>
                        </a:rPr>
                        <a:t>Module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4D399"/>
                          </a:solidFill>
                          <a:latin typeface="Outfit SemiBold"/>
                        </a:rPr>
                        <a:t>Database Tables Involved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4D399"/>
                          </a:solidFill>
                          <a:latin typeface="Outfit SemiBold"/>
                        </a:rPr>
                        <a:t>Key Features &amp; SQL Functionality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User &amp; Auth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Users, Sessions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Secure signup, Bcrypt hashed passwords, JWT token authentication.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Account 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Accounts, Account_Types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Tracks Savings, Checking, &amp; Credit cards with active balance triggers.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Transaction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Transactions, Categories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Income/expense logging, category tagging, date-indexed queries.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5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Budget &amp; Alert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Budgets, Alert_Logs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Monthly spending limit evaluation via BEFORE INSERT triggers.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54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Analytics &amp; Reporting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vw_monthly_summary (SQL View)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Aggregated monthly breakdowns and category spending ratios.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721768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16274" y="2721768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37932" y="2721768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0550" y="3259931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16274" y="3259931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37932" y="3259931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0550" y="3798093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16274" y="3798093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37932" y="3798093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4336256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16274" y="4336256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37932" y="4336256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0550" y="4874418"/>
            <a:ext cx="22257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16274" y="4874418"/>
            <a:ext cx="30216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37932" y="4874418"/>
            <a:ext cx="57635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Project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5e7cdcd8e70e4c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66439bed8689479e"/>
          <a:stretch>
            <a:fillRect/>
          </a:stretch>
        </p:blipFill>
        <p:spPr>
          <a:xfrm>
            <a:off x="581025" y="2843212"/>
            <a:ext cx="2426493" cy="1914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b099bd6a1ea34afd"/>
          <a:stretch>
            <a:fillRect/>
          </a:stretch>
        </p:blipFill>
        <p:spPr>
          <a:xfrm>
            <a:off x="3448794" y="2843212"/>
            <a:ext cx="2426493" cy="1914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5ca97b04cc3845fd"/>
          <a:stretch>
            <a:fillRect/>
          </a:stretch>
        </p:blipFill>
        <p:spPr>
          <a:xfrm>
            <a:off x="6316563" y="2843212"/>
            <a:ext cx="2426493" cy="1914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732821f12b584895"/>
          <a:stretch>
            <a:fillRect/>
          </a:stretch>
        </p:blipFill>
        <p:spPr>
          <a:xfrm>
            <a:off x="9184332" y="2843212"/>
            <a:ext cx="2426493" cy="1914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89cd49c90b734401"/>
          <a:stretch>
            <a:fillRect/>
          </a:stretch>
        </p:blipFill>
        <p:spPr>
          <a:xfrm>
            <a:off x="1341834" y="3081337"/>
            <a:ext cx="90487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0388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Schema &amp; ER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719512"/>
            <a:ext cx="2026443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Requirements gathering, mapping ER diagrams, and defining 3NF normalization constraints.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8458a1d71dc34d13"/>
          <a:stretch>
            <a:fillRect/>
          </a:stretch>
        </p:blipFill>
        <p:spPr>
          <a:xfrm>
            <a:off x="4190553" y="3081337"/>
            <a:ext cx="9429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98158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DDL/DML &amp;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819" y="3719512"/>
            <a:ext cx="2026443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Writing table creation scripts, foreign keys, stored procedures, and automated triggers.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bfadfbfb12ff4f24"/>
          <a:stretch>
            <a:fillRect/>
          </a:stretch>
        </p:blipFill>
        <p:spPr>
          <a:xfrm>
            <a:off x="7063085" y="3081337"/>
            <a:ext cx="9334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5927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API &amp; UI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588" y="3719512"/>
            <a:ext cx="202644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RESTful API endpoints, ORM integration layer, and building interactive React dashboard.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4885ebccad954da4"/>
          <a:stretch>
            <a:fillRect/>
          </a:stretch>
        </p:blipFill>
        <p:spPr>
          <a:xfrm>
            <a:off x="9935616" y="3081337"/>
            <a:ext cx="9239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33696" y="3424237"/>
            <a:ext cx="21277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Outfit"/>
              </a:rPr>
              <a:t>Testing &amp;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4357" y="3719512"/>
            <a:ext cx="202644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Transaction ACID stress tests, benchmarking index query speeds, and final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Project Plan &amp;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9429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ebce0a0389cd48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9ceb36fd3f184423"/>
          <a:stretch>
            <a:fillRect/>
          </a:stretch>
        </p:blipFill>
        <p:spPr>
          <a:xfrm>
            <a:off x="1571625" y="3797498"/>
            <a:ext cx="904875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494d749bdb7c4fa0"/>
          <a:stretch>
            <a:fillRect/>
          </a:stretch>
        </p:blipFill>
        <p:spPr>
          <a:xfrm>
            <a:off x="1809750" y="4216598"/>
            <a:ext cx="1622970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b4590e59e91a4d18"/>
          <a:stretch>
            <a:fillRect/>
          </a:stretch>
        </p:blipFill>
        <p:spPr>
          <a:xfrm>
            <a:off x="3547020" y="4216598"/>
            <a:ext cx="1623119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b819789124b9486b"/>
          <a:stretch>
            <a:fillRect/>
          </a:stretch>
        </p:blipFill>
        <p:spPr>
          <a:xfrm>
            <a:off x="5284440" y="4216598"/>
            <a:ext cx="1622970" cy="466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1e966ae1a73d4f8e"/>
          <a:stretch>
            <a:fillRect/>
          </a:stretch>
        </p:blipFill>
        <p:spPr>
          <a:xfrm>
            <a:off x="7021710" y="4216598"/>
            <a:ext cx="1623119" cy="466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e6f9419668b5425c"/>
          <a:stretch>
            <a:fillRect/>
          </a:stretch>
        </p:blipFill>
        <p:spPr>
          <a:xfrm>
            <a:off x="8759130" y="4216598"/>
            <a:ext cx="1622970" cy="4667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e8d5fdb5b20a4c6f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31a228c749984684"/>
          <a:stretch>
            <a:fillRect/>
          </a:stretch>
        </p:blipFill>
        <p:spPr>
          <a:xfrm>
            <a:off x="5024437" y="1736526"/>
            <a:ext cx="2143125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0570" y="2174676"/>
            <a:ext cx="6870858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sz="3300" b="0" i="0" u="none" dirty="0">
                <a:solidFill>
                  <a:srgbClr val="F8FAFC"/>
                </a:solidFill>
                <a:latin typeface="Plus Jakarta Sans ExtraBold"/>
              </a:rPr>
              <a:t>AI-Powered Personal Finance &amp;</a:t>
            </a:r>
            <a:r>
              <a:rPr dirty="0"/>
              <a:t>
</a:t>
            </a:r>
            <a:r>
              <a:rPr sz="3300" b="0" i="0" u="none" dirty="0">
                <a:solidFill>
                  <a:srgbClr val="34D399"/>
                </a:solidFill>
                <a:latin typeface="Plus Jakarta Sans ExtraBold"/>
              </a:rPr>
              <a:t>Predictive Budget </a:t>
            </a:r>
            <a:r>
              <a:rPr lang="en-IN" sz="3300" dirty="0">
                <a:solidFill>
                  <a:srgbClr val="34D399"/>
                </a:solidFill>
                <a:latin typeface="Plus Jakarta Sans ExtraBold"/>
              </a:rPr>
              <a:t>Management </a:t>
            </a:r>
            <a:r>
              <a:rPr sz="3300" b="0" i="0" u="none" dirty="0">
                <a:solidFill>
                  <a:srgbClr val="34D399"/>
                </a:solidFill>
                <a:latin typeface="Plus Jakarta Sans ExtraBold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425" y="3252787"/>
            <a:ext cx="767715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Literature Review, Paper Analysis, Technical Gap Identification, and Hybrid AI-DBMS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6315075"/>
            <a:ext cx="2724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Department of Computer Science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0325" y="6315075"/>
            <a:ext cx="150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Evaluation Stage: Review 2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d55cde4a2d8e46d6"/>
          <a:stretch>
            <a:fillRect/>
          </a:stretch>
        </p:blipFill>
        <p:spPr>
          <a:xfrm>
            <a:off x="5108226" y="1817489"/>
            <a:ext cx="12382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09750" y="3959423"/>
            <a:ext cx="8572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4D399"/>
                </a:solidFill>
                <a:latin typeface="Plus Jakarta Sans"/>
              </a:rPr>
              <a:t>PROJECT DEVELOPMENT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6425" y="4302323"/>
            <a:ext cx="1489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S. Yaswanth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6425" y="4473773"/>
            <a:ext cx="148962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2510030264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3695" y="4302323"/>
            <a:ext cx="148976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Veda Praneeth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3695" y="4473773"/>
            <a:ext cx="1489769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2510030069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1115" y="4302323"/>
            <a:ext cx="1489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 err="1">
                <a:solidFill>
                  <a:srgbClr val="F8FAFC"/>
                </a:solidFill>
                <a:latin typeface="Plus Jakarta Sans SemiBold"/>
              </a:rPr>
              <a:t>Nikil</a:t>
            </a:r>
            <a:r>
              <a:rPr lang="en-US" sz="975" b="0" i="0" u="none" dirty="0" err="1">
                <a:solidFill>
                  <a:srgbClr val="F8FAFC"/>
                </a:solidFill>
                <a:latin typeface="Plus Jakarta Sans SemiBold"/>
              </a:rPr>
              <a:t>eshwar</a:t>
            </a:r>
            <a:endParaRPr sz="975" b="0" i="0" u="none" dirty="0">
              <a:solidFill>
                <a:srgbClr val="F8FAFC"/>
              </a:solidFill>
              <a:latin typeface="Plus Jakarta Sans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51115" y="4473773"/>
            <a:ext cx="148962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2510030358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8385" y="4302323"/>
            <a:ext cx="148976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M. Jashwanth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8385" y="4473773"/>
            <a:ext cx="1489769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2510030196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5805" y="4302323"/>
            <a:ext cx="148962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Plus Jakarta Sans SemiBold"/>
              </a:rPr>
              <a:t>Ruthvik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5805" y="4473773"/>
            <a:ext cx="148962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2510030348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06459fc0c0694e5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ee7f89e327a0414e"/>
          <a:stretch>
            <a:fillRect/>
          </a:stretch>
        </p:blipFill>
        <p:spPr>
          <a:xfrm>
            <a:off x="466725" y="1843087"/>
            <a:ext cx="11258550" cy="3590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357b9977fd13463e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a65865bf5c1a4a62"/>
          <a:stretch>
            <a:fillRect/>
          </a:stretch>
        </p:blipFill>
        <p:spPr>
          <a:xfrm>
            <a:off x="466725" y="428625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6315075"/>
            <a:ext cx="1543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0825" y="6315075"/>
            <a:ext cx="1314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Paper Survey (4 Papers)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6250" y="1852612"/>
          <a:ext cx="11239499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Authors &amp;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Focus &amp; Methodology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Key Findings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Identified Limitations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Lewis et al. (2022)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IEEE / arXiv (2024)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SVM &amp; NLP for bank transaction description classification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 classification accuracy on clean short-text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Offline script execution; no database trigger or schema link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Carter et al. (2023)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K.U. Leuven / Springer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Cash flow forecasting using Prophet, ARIMA &amp; 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LSTM &amp; Prophet outperform traditional statistical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Tested on static CSVs; lacks ACID multi-account transfer logic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Yadav et al. (2025)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IJERT Vol. 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Web-based personal budget tracker using Linear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Demonstrates simple web UI and basic monthly expense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Relies purely on app-layer validation; vulnerable to race conditions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Sharma et al. (2021)</a:t>
                      </a:r>
                      <a:r>
                        <a:t>
</a:t>
                      </a:r>
                      <a:r>
                        <a:rPr sz="1012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IEEE Conference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Predictive analytics for personal savings &amp; budget advisory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Improved savings rates via periodic ML budget recommendations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Lacks sub-20ms database indexing &amp; real-time transaction hooks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6250" y="2362200"/>
            <a:ext cx="13823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58565" y="2362200"/>
            <a:ext cx="31621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0716" y="2362200"/>
            <a:ext cx="33830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03728" y="2362200"/>
            <a:ext cx="33120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6250" y="3086100"/>
            <a:ext cx="13823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58565" y="3086100"/>
            <a:ext cx="31621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0716" y="3086100"/>
            <a:ext cx="33830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03728" y="3086100"/>
            <a:ext cx="33120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6250" y="3971925"/>
            <a:ext cx="13823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58565" y="3971925"/>
            <a:ext cx="31621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0716" y="3971925"/>
            <a:ext cx="33830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03728" y="3971925"/>
            <a:ext cx="33120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4695825"/>
            <a:ext cx="13823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58565" y="4695825"/>
            <a:ext cx="31621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0716" y="4695825"/>
            <a:ext cx="33830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03728" y="4695825"/>
            <a:ext cx="33120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625" y="390525"/>
            <a:ext cx="113823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Academic Papers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Analyzed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b457ffc0dd75494f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57c473af4d104af2"/>
          <a:stretch>
            <a:fillRect/>
          </a:stretch>
        </p:blipFill>
        <p:spPr>
          <a:xfrm>
            <a:off x="466725" y="2578000"/>
            <a:ext cx="3625750" cy="21210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470e9aa0894c469d"/>
          <a:stretch>
            <a:fillRect/>
          </a:stretch>
        </p:blipFill>
        <p:spPr>
          <a:xfrm>
            <a:off x="4282975" y="2578000"/>
            <a:ext cx="3625899" cy="212109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ff91de27d57f4fe6"/>
          <a:stretch>
            <a:fillRect/>
          </a:stretch>
        </p:blipFill>
        <p:spPr>
          <a:xfrm>
            <a:off x="8099375" y="2578000"/>
            <a:ext cx="3625750" cy="212109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d8111a4b12354aa1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97cd6ff279df4d79"/>
          <a:stretch>
            <a:fillRect/>
          </a:stretch>
        </p:blipFill>
        <p:spPr>
          <a:xfrm>
            <a:off x="466725" y="428625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725" y="6315075"/>
            <a:ext cx="1562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Paradigm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6475" y="6315075"/>
            <a:ext cx="1828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State-of-the-Art Categorization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4e4e9b4e86c34d21"/>
          <a:stretch>
            <a:fillRect/>
          </a:stretch>
        </p:blipFill>
        <p:spPr>
          <a:xfrm>
            <a:off x="685800" y="2797075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292375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1. Traditional Relational Trackers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06700"/>
            <a:ext cx="318760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Enforces foreign key constraints and basic CRUD tables for logging transactions and account balances.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03adfe4650b24129"/>
          <a:stretch>
            <a:fillRect/>
          </a:stretch>
        </p:blipFill>
        <p:spPr>
          <a:xfrm>
            <a:off x="685800" y="4260949"/>
            <a:ext cx="178117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cc8b10d3a37d4b80"/>
          <a:stretch>
            <a:fillRect/>
          </a:stretch>
        </p:blipFill>
        <p:spPr>
          <a:xfrm>
            <a:off x="4502050" y="2797075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050" y="3292375"/>
            <a:ext cx="33471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2. Commercial Budgeting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050" y="3606700"/>
            <a:ext cx="3187749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Apps like Mint and YNAB offer rule-based category caps and manual transaction tagging UIs.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fe898e4d5cef4972"/>
          <a:stretch>
            <a:fillRect/>
          </a:stretch>
        </p:blipFill>
        <p:spPr>
          <a:xfrm>
            <a:off x="4502050" y="4260949"/>
            <a:ext cx="17907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5363189fddf248c9"/>
          <a:stretch>
            <a:fillRect/>
          </a:stretch>
        </p:blipFill>
        <p:spPr>
          <a:xfrm>
            <a:off x="8318450" y="2797075"/>
            <a:ext cx="400050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450" y="3292375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3. Standalone ML Predictors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450" y="3606700"/>
            <a:ext cx="31876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Research papers exploring standalone Prophet cash flow models and NLP categorization scripts.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d29b44f864fd44cc"/>
          <a:stretch>
            <a:fillRect/>
          </a:stretch>
        </p:blipFill>
        <p:spPr>
          <a:xfrm>
            <a:off x="8318450" y="4260949"/>
            <a:ext cx="172402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94086621e10b461a"/>
          <a:stretch>
            <a:fillRect/>
          </a:stretch>
        </p:blipFill>
        <p:spPr>
          <a:xfrm>
            <a:off x="809625" y="2911375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3c7b3d9fdabc4069"/>
          <a:stretch>
            <a:fillRect/>
          </a:stretch>
        </p:blipFill>
        <p:spPr>
          <a:xfrm>
            <a:off x="4635400" y="2911375"/>
            <a:ext cx="1333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78468599defe472b"/>
          <a:stretch>
            <a:fillRect/>
          </a:stretch>
        </p:blipFill>
        <p:spPr>
          <a:xfrm>
            <a:off x="8432750" y="2911375"/>
            <a:ext cx="17145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3925" y="390525"/>
            <a:ext cx="112680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Literature Paradigm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74f5dd18888545e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39e30dd281874a7a"/>
          <a:stretch>
            <a:fillRect/>
          </a:stretch>
        </p:blipFill>
        <p:spPr>
          <a:xfrm>
            <a:off x="466725" y="1932384"/>
            <a:ext cx="5543550" cy="16204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835a95000753452d"/>
          <a:stretch>
            <a:fillRect/>
          </a:stretch>
        </p:blipFill>
        <p:spPr>
          <a:xfrm>
            <a:off x="6181725" y="1932384"/>
            <a:ext cx="5543550" cy="1620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f73f9ec555154e2e"/>
          <a:stretch>
            <a:fillRect/>
          </a:stretch>
        </p:blipFill>
        <p:spPr>
          <a:xfrm>
            <a:off x="466725" y="3724275"/>
            <a:ext cx="5543550" cy="16204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5a50759c4d624e56"/>
          <a:stretch>
            <a:fillRect/>
          </a:stretch>
        </p:blipFill>
        <p:spPr>
          <a:xfrm>
            <a:off x="6181725" y="3724275"/>
            <a:ext cx="5543550" cy="16204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fc968958fd03400f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fdd9be2966324a72"/>
          <a:stretch>
            <a:fillRect/>
          </a:stretch>
        </p:blipFill>
        <p:spPr>
          <a:xfrm>
            <a:off x="466725" y="428625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725" y="6315075"/>
            <a:ext cx="126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Gap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3225" y="6315075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Problem Formulation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77021b944372419c"/>
          <a:stretch>
            <a:fillRect/>
          </a:stretch>
        </p:blipFill>
        <p:spPr>
          <a:xfrm>
            <a:off x="685800" y="2151459"/>
            <a:ext cx="40005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2646759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1. Application-Layer Reliance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1084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Validation handled purely in backend scripts causes race conditions and allows direct overspend check bypasses during concurrent writes.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77021b944372419c"/>
          <a:stretch>
            <a:fillRect/>
          </a:stretch>
        </p:blipFill>
        <p:spPr>
          <a:xfrm>
            <a:off x="6400800" y="2151459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2646759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2. Reactive Alerting 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61084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Existing applications alert users </a:t>
            </a:r>
            <a:r>
              <a:rPr sz="1012" b="0" i="1" u="none">
                <a:solidFill>
                  <a:srgbClr val="94A3B8"/>
                </a:solidFill>
                <a:latin typeface="Plus Jakarta Sans"/>
              </a:rPr>
              <a:t>after</a:t>
            </a:r>
            <a:r>
              <a:rPr sz="1012" b="0" i="0" u="none">
                <a:solidFill>
                  <a:srgbClr val="94A3B8"/>
                </a:solidFill>
                <a:latin typeface="Plus Jakarta Sans"/>
              </a:rPr>
              <a:t> budget thresholds are hit, rather than forecasting 30-day trajectories before breaches occur.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e3a887efb2d7413b"/>
          <a:stretch>
            <a:fillRect/>
          </a:stretch>
        </p:blipFill>
        <p:spPr>
          <a:xfrm>
            <a:off x="685800" y="3943350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4438650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3. Query Latency &amp; 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52975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Unnormalized spreadsheet or NoSQL setups suffer from insertion/deletion anomalies and multi-table join query latency (&gt;100ms).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e3a887efb2d7413b"/>
          <a:stretch>
            <a:fillRect/>
          </a:stretch>
        </p:blipFill>
        <p:spPr>
          <a:xfrm>
            <a:off x="6400800" y="3943350"/>
            <a:ext cx="400050" cy="4000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4438650"/>
            <a:ext cx="536067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4. Disconnected ML &amp; Ledger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2975"/>
            <a:ext cx="510540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Standalone ML prediction pipelines operate completely disconnected from multi-account ACID transactional rollback procedures.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f23f169a34d44800"/>
          <a:stretch>
            <a:fillRect/>
          </a:stretch>
        </p:blipFill>
        <p:spPr>
          <a:xfrm>
            <a:off x="776287" y="2265759"/>
            <a:ext cx="219075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e8bd97935a254c33"/>
          <a:stretch>
            <a:fillRect/>
          </a:stretch>
        </p:blipFill>
        <p:spPr>
          <a:xfrm>
            <a:off x="6515100" y="2265759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fce73408eaf942cc"/>
          <a:stretch>
            <a:fillRect/>
          </a:stretch>
        </p:blipFill>
        <p:spPr>
          <a:xfrm>
            <a:off x="800100" y="4057650"/>
            <a:ext cx="17145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0ecb630c61384861"/>
          <a:stretch>
            <a:fillRect/>
          </a:stretch>
        </p:blipFill>
        <p:spPr>
          <a:xfrm>
            <a:off x="6491287" y="4057650"/>
            <a:ext cx="21907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5825" y="390525"/>
            <a:ext cx="113061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Identified Technical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Gaps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81bb5dc00b20463d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146b24f264204aeb"/>
          <a:stretch>
            <a:fillRect/>
          </a:stretch>
        </p:blipFill>
        <p:spPr>
          <a:xfrm>
            <a:off x="466725" y="2243137"/>
            <a:ext cx="11258550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3929bde5d4854ca2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b58624afba214799"/>
          <a:stretch>
            <a:fillRect/>
          </a:stretch>
        </p:blipFill>
        <p:spPr>
          <a:xfrm>
            <a:off x="466725" y="428625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6315075"/>
            <a:ext cx="1381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Gap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15075"/>
            <a:ext cx="2124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State-of-the-Art Feature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6250" y="2252662"/>
          <a:ext cx="11239498" cy="2771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5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79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Feature / Technical 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Lewis et al. (2022)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Carter et al. (2023)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Yadav et al. (2025)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Commercial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Our Hybrid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3NF Relational Schema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Proprietary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100% 3NF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Real-Time SQL Triggers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BEFORE INSERT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ACID Multi-Account Transfers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Full Rollback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30-Day ML Cash Flow Forecast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 (Offline)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Prophet / Views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6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NLP Merchant Auto-Tagging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BBF24"/>
                          </a:solidFill>
                          <a:latin typeface="Plus Jakarta Sans SemiBold"/>
                        </a:rPr>
                        <a:t>Rule-based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&gt;95% Accuracy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73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Sub-20ms Indexed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N/A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N/A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43F5E"/>
                          </a:solidFill>
                          <a:latin typeface="Plus Jakarta Sans SemiBold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B-Tree Indexing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6250" y="2619375"/>
            <a:ext cx="26339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10210" y="2619375"/>
            <a:ext cx="1673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83931" y="2619375"/>
            <a:ext cx="179442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78351" y="2619375"/>
            <a:ext cx="17156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94042" y="2619375"/>
            <a:ext cx="1673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67763" y="2619375"/>
            <a:ext cx="17479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6250" y="301942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10210" y="30194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83931" y="301942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78351" y="301942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94042" y="30194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967763" y="301942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341947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10210" y="34194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83931" y="341947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78351" y="341947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94042" y="34194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67763" y="341947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6250" y="381952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10210" y="38195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83931" y="381952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78351" y="381952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94042" y="38195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67763" y="381952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6250" y="421957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10210" y="42195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83931" y="421957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78351" y="421957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94042" y="421957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967763" y="421957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6250" y="4619625"/>
            <a:ext cx="263396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110210" y="46196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83931" y="4619625"/>
            <a:ext cx="179442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78351" y="4619625"/>
            <a:ext cx="17156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94042" y="4619625"/>
            <a:ext cx="1673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67763" y="4619625"/>
            <a:ext cx="174798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16a4cc4aed9c4397"/>
          <a:stretch>
            <a:fillRect/>
          </a:stretch>
        </p:blipFill>
        <p:spPr>
          <a:xfrm>
            <a:off x="10031524" y="2776537"/>
            <a:ext cx="114300" cy="12858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16a4cc4aed9c4397"/>
          <a:stretch>
            <a:fillRect/>
          </a:stretch>
        </p:blipFill>
        <p:spPr>
          <a:xfrm>
            <a:off x="10039512" y="3176587"/>
            <a:ext cx="114300" cy="12858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16a4cc4aed9c4397"/>
          <a:stretch>
            <a:fillRect/>
          </a:stretch>
        </p:blipFill>
        <p:spPr>
          <a:xfrm>
            <a:off x="10042282" y="3567112"/>
            <a:ext cx="114300" cy="12858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16a4cc4aed9c4397"/>
          <a:stretch>
            <a:fillRect/>
          </a:stretch>
        </p:blipFill>
        <p:spPr>
          <a:xfrm>
            <a:off x="10031524" y="3967162"/>
            <a:ext cx="114300" cy="12858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16a4cc4aed9c4397"/>
          <a:stretch>
            <a:fillRect/>
          </a:stretch>
        </p:blipFill>
        <p:spPr>
          <a:xfrm>
            <a:off x="10042282" y="4347163"/>
            <a:ext cx="114300" cy="128587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16a4cc4aed9c4397"/>
          <a:stretch>
            <a:fillRect/>
          </a:stretch>
        </p:blipFill>
        <p:spPr>
          <a:xfrm>
            <a:off x="10042282" y="4760119"/>
            <a:ext cx="114300" cy="12858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85825" y="390525"/>
            <a:ext cx="113061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Comparative Feature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Matrix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6115792b64404c1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ea71be178c834e68"/>
          <a:stretch>
            <a:fillRect/>
          </a:stretch>
        </p:blipFill>
        <p:spPr>
          <a:xfrm>
            <a:off x="6248400" y="1828800"/>
            <a:ext cx="54768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ce8dfb8e80d047bf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7eb0e51d15f2423a"/>
          <a:stretch>
            <a:fillRect/>
          </a:stretch>
        </p:blipFill>
        <p:spPr>
          <a:xfrm>
            <a:off x="466725" y="428625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6315075"/>
            <a:ext cx="1724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2725" y="6315075"/>
            <a:ext cx="1352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Proposed Hybrid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2599729"/>
            <a:ext cx="5191125" cy="409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Hybrid DB-AI Engine: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Native SQL BEFORE INSERT triggers combined with real-time ML inference for proactive overspend prevention.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3162002"/>
            <a:ext cx="5191125" cy="409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30-Day Cash Flow Forecasting: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Integrated Prophet / LSTM models fed directly by optimized vw_monthly_summary database 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724275"/>
            <a:ext cx="5172075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NLP Auto-Categorization: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Automated parsing of raw merchant strings (`"AMZN Mktp US"`) with &gt;95% classification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4277022"/>
            <a:ext cx="5210175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087" b="1" i="0" u="none">
                <a:solidFill>
                  <a:srgbClr val="F8FAFC"/>
                </a:solidFill>
                <a:latin typeface="Plus Jakarta Sans"/>
              </a:rPr>
              <a:t>Sub-20ms Query Speed: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3NF normalized relational schema with B-Tree composite indexing and ACID-compliant multi-account transactions.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6fbbf1086aae401b"/>
          <a:stretch>
            <a:fillRect/>
          </a:stretch>
        </p:blipFill>
        <p:spPr>
          <a:xfrm>
            <a:off x="466725" y="2614017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bae788049d8f418d"/>
          <a:stretch>
            <a:fillRect/>
          </a:stretch>
        </p:blipFill>
        <p:spPr>
          <a:xfrm>
            <a:off x="466725" y="3176289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b9ee02a04e3c451a"/>
          <a:stretch>
            <a:fillRect/>
          </a:stretch>
        </p:blipFill>
        <p:spPr>
          <a:xfrm>
            <a:off x="466725" y="3738562"/>
            <a:ext cx="1905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6e978820d4024d31"/>
          <a:stretch>
            <a:fillRect/>
          </a:stretch>
        </p:blipFill>
        <p:spPr>
          <a:xfrm>
            <a:off x="466725" y="4291310"/>
            <a:ext cx="15240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625" y="390525"/>
            <a:ext cx="113823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Proposed System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Novelty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CE7E02-2740-D2BA-64BB-A680530C23BB}"/>
              </a:ext>
            </a:extLst>
          </p:cNvPr>
          <p:cNvPicPr>
            <a:picLocks noChangeAspect="1"/>
          </p:cNvPicPr>
          <p:nvPr/>
        </p:nvPicPr>
        <p:blipFill>
          <a:blip r:embed="R4a9644e665ad43cd"/>
          <a:stretch>
            <a:fillRect/>
          </a:stretch>
        </p:blipFill>
        <p:spPr>
          <a:xfrm>
            <a:off x="6267450" y="1828800"/>
            <a:ext cx="545782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d896f70e23e14c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12cf64a5bbca40e9"/>
          <a:stretch>
            <a:fillRect/>
          </a:stretch>
        </p:blipFill>
        <p:spPr>
          <a:xfrm>
            <a:off x="466725" y="2641996"/>
            <a:ext cx="3625750" cy="19931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2a6e47fa0a754323"/>
          <a:stretch>
            <a:fillRect/>
          </a:stretch>
        </p:blipFill>
        <p:spPr>
          <a:xfrm>
            <a:off x="4282975" y="2641996"/>
            <a:ext cx="3625899" cy="19931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d8242dade2ad4222"/>
          <a:stretch>
            <a:fillRect/>
          </a:stretch>
        </p:blipFill>
        <p:spPr>
          <a:xfrm>
            <a:off x="8099375" y="2641996"/>
            <a:ext cx="3625750" cy="19931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93a9c874702d41c5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3b669beed91d4776"/>
          <a:stretch>
            <a:fillRect/>
          </a:stretch>
        </p:blipFill>
        <p:spPr>
          <a:xfrm>
            <a:off x="466725" y="42862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725" y="6315075"/>
            <a:ext cx="1828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Technical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44225" y="6315075"/>
            <a:ext cx="781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Novelty Pillars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9e042fb3dd9a48e0"/>
          <a:stretch>
            <a:fillRect/>
          </a:stretch>
        </p:blipFill>
        <p:spPr>
          <a:xfrm>
            <a:off x="685800" y="2861071"/>
            <a:ext cx="400050" cy="400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356371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1. DB-Enforced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70696"/>
            <a:ext cx="3187600" cy="745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Unlike Yadav et al. and commercial apps that validate spend limits in app-layer scripts, our system places active triggers inside the DB engine to prevent race conditions.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1949b30aa61b4a0e"/>
          <a:stretch>
            <a:fillRect/>
          </a:stretch>
        </p:blipFill>
        <p:spPr>
          <a:xfrm>
            <a:off x="4502050" y="2861071"/>
            <a:ext cx="40005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02050" y="3356371"/>
            <a:ext cx="33471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2. Dynamic DB-ML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050" y="3670696"/>
            <a:ext cx="3187749" cy="745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Unlike Carter et al. and Lewis et al. where ML runs on static CSVs, our Prophet and NLP pipelines query B-Tree indexed SQL views (`vw_monthly_summary`) dynamically.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86e96bf19fed4da6"/>
          <a:stretch>
            <a:fillRect/>
          </a:stretch>
        </p:blipFill>
        <p:spPr>
          <a:xfrm>
            <a:off x="8318450" y="2861071"/>
            <a:ext cx="40005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18450" y="3356371"/>
            <a:ext cx="33469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3. Multi-Account ACID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670696"/>
            <a:ext cx="318760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Combines predictive AI auto-tagging with strict 3NF multi-account transactional rollbacks, guaranteeing balance consistency if any database write fails.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9c6031cb70a54aec"/>
          <a:stretch>
            <a:fillRect/>
          </a:stretch>
        </p:blipFill>
        <p:spPr>
          <a:xfrm>
            <a:off x="800100" y="2975371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f28c37c3c4eb4223"/>
          <a:stretch>
            <a:fillRect/>
          </a:stretch>
        </p:blipFill>
        <p:spPr>
          <a:xfrm>
            <a:off x="4616350" y="2975371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addac77e01ff4ca3"/>
          <a:stretch>
            <a:fillRect/>
          </a:stretch>
        </p:blipFill>
        <p:spPr>
          <a:xfrm>
            <a:off x="8442275" y="2975371"/>
            <a:ext cx="15240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5825" y="390525"/>
            <a:ext cx="113061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Key Novelty </a:t>
            </a:r>
            <a:r>
              <a:rPr sz="2400" b="1" i="0" u="none">
                <a:solidFill>
                  <a:srgbClr val="34D399"/>
                </a:solidFill>
                <a:latin typeface="Plus Jakarta Sans"/>
              </a:rPr>
              <a:t>Distinctions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725" y="885825"/>
            <a:ext cx="112585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557d58122dea43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1769a356221e4327"/>
          <a:stretch>
            <a:fillRect/>
          </a:stretch>
        </p:blipFill>
        <p:spPr>
          <a:xfrm>
            <a:off x="466725" y="6191250"/>
            <a:ext cx="1125855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70000141888046ee"/>
          <a:stretch>
            <a:fillRect/>
          </a:stretch>
        </p:blipFill>
        <p:spPr>
          <a:xfrm>
            <a:off x="5214937" y="2339875"/>
            <a:ext cx="1762125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0820" y="2778025"/>
            <a:ext cx="2870358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0" i="0" u="none">
                <a:solidFill>
                  <a:srgbClr val="F8FAFC"/>
                </a:solidFill>
                <a:latin typeface="Plus Jakarta Sans ExtraBold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5700" y="3483768"/>
            <a:ext cx="48006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>
                <a:solidFill>
                  <a:srgbClr val="34D399"/>
                </a:solidFill>
                <a:latin typeface="Plus Jakarta Sans SemiBold"/>
              </a:rPr>
              <a:t>AI-Powered Personal Finance &amp; Predictive Budget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462" y="3799879"/>
            <a:ext cx="555307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We welcome your questions, feedback, and technical guidance for Review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" y="6315075"/>
            <a:ext cx="1609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DBMS &amp; AI Project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3550" y="6315075"/>
            <a:ext cx="2371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Plus Jakarta Sans"/>
              </a:rPr>
              <a:t>Review 2: Literature Review &amp; Gap Analysis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90fe3d9c69c44dc3"/>
          <a:stretch>
            <a:fillRect/>
          </a:stretch>
        </p:blipFill>
        <p:spPr>
          <a:xfrm>
            <a:off x="5300662" y="2420837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60c77915de4e4f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0ae03680805b466c"/>
          <a:stretch>
            <a:fillRect/>
          </a:stretch>
        </p:blipFill>
        <p:spPr>
          <a:xfrm>
            <a:off x="4839592" y="1875978"/>
            <a:ext cx="2512814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4187d196d78844b9"/>
          <a:stretch>
            <a:fillRect/>
          </a:stretch>
        </p:blipFill>
        <p:spPr>
          <a:xfrm>
            <a:off x="1333500" y="4410521"/>
            <a:ext cx="179829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8300c923136c46e9"/>
          <a:stretch>
            <a:fillRect/>
          </a:stretch>
        </p:blipFill>
        <p:spPr>
          <a:xfrm>
            <a:off x="3265140" y="4410521"/>
            <a:ext cx="179829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b00e513b8c7442c3"/>
          <a:stretch>
            <a:fillRect/>
          </a:stretch>
        </p:blipFill>
        <p:spPr>
          <a:xfrm>
            <a:off x="5196780" y="4410521"/>
            <a:ext cx="179829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bcc07e01075b4e28"/>
          <a:stretch>
            <a:fillRect/>
          </a:stretch>
        </p:blipFill>
        <p:spPr>
          <a:xfrm>
            <a:off x="7128420" y="4410521"/>
            <a:ext cx="179829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4187d196d78844b9"/>
          <a:stretch>
            <a:fillRect/>
          </a:stretch>
        </p:blipFill>
        <p:spPr>
          <a:xfrm>
            <a:off x="9060060" y="4410521"/>
            <a:ext cx="1798439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5563" y="2256978"/>
            <a:ext cx="6980872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750" b="1" i="0" u="none">
                <a:solidFill>
                  <a:srgbClr val="FFFFFF"/>
                </a:solidFill>
                <a:latin typeface="Plus Jakarta Sans"/>
              </a:rPr>
              <a:t>AI-Powered Personal Finance</a:t>
            </a:r>
            <a:r>
              <a:t>
</a:t>
            </a:r>
            <a:r>
              <a:rPr sz="3750" b="1" i="0" u="none">
                <a:solidFill>
                  <a:srgbClr val="FFFFFF"/>
                </a:solidFill>
                <a:latin typeface="Plus Jakarta Sans"/>
              </a:rPr>
              <a:t> &amp; Predictive Budget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3504753"/>
            <a:ext cx="8191500" cy="524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66"/>
              </a:lnSpc>
            </a:pPr>
            <a:r>
              <a:rPr sz="1425" b="0" i="0" u="none">
                <a:solidFill>
                  <a:srgbClr val="CBD5E1"/>
                </a:solidFill>
                <a:latin typeface="Plus Jakarta Sans"/>
              </a:rPr>
              <a:t>A Robust Hybrid Database-ML Methodology: Real-Time In-Engine Trigger Validation, Cross-Platform Adaptability, Empirical Benchmarking &amp; Comprehensive Dissemination.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32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Plus Jakarta Sans"/>
              </a:rPr>
              <a:t>S. Yaswanth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732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2510030264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896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Plus Jakarta Sans"/>
              </a:rPr>
              <a:t>Veda Praneeth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896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2510030069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060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975" b="1" i="0" u="none" dirty="0">
                <a:solidFill>
                  <a:srgbClr val="F1F5F9"/>
                </a:solidFill>
                <a:latin typeface="Plus Jakarta Sans"/>
              </a:rPr>
              <a:t>K.</a:t>
            </a:r>
            <a:r>
              <a:rPr sz="975" b="1" i="0" u="none" dirty="0">
                <a:solidFill>
                  <a:srgbClr val="F1F5F9"/>
                </a:solidFill>
                <a:latin typeface="Plus Jakarta Sans"/>
              </a:rPr>
              <a:t>Nikil</a:t>
            </a:r>
            <a:r>
              <a:rPr lang="en-IN" sz="975" b="1" i="0" u="none" dirty="0" err="1">
                <a:solidFill>
                  <a:srgbClr val="F1F5F9"/>
                </a:solidFill>
                <a:latin typeface="Plus Jakarta Sans"/>
              </a:rPr>
              <a:t>eshwar</a:t>
            </a:r>
            <a:endParaRPr sz="975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2060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2510030358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2245" y="4534346"/>
            <a:ext cx="155064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975" b="1" i="0" u="none" dirty="0">
                <a:solidFill>
                  <a:srgbClr val="F1F5F9"/>
                </a:solidFill>
                <a:latin typeface="Plus Jakarta Sans"/>
              </a:rPr>
              <a:t>M</a:t>
            </a:r>
            <a:r>
              <a:rPr sz="975" b="1" i="0" u="none" dirty="0">
                <a:solidFill>
                  <a:srgbClr val="F1F5F9"/>
                </a:solidFill>
                <a:latin typeface="Plus Jakarta Sans"/>
              </a:rPr>
              <a:t>. Jashwanth</a:t>
            </a:r>
            <a:r>
              <a:rPr lang="en-IN" sz="975" b="1" i="0" u="none" dirty="0">
                <a:solidFill>
                  <a:srgbClr val="F1F5F9"/>
                </a:solidFill>
                <a:latin typeface="Plus Jakarta Sans"/>
              </a:rPr>
              <a:t> kumar</a:t>
            </a:r>
            <a:endParaRPr sz="975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52245" y="4724846"/>
            <a:ext cx="155064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3885" y="4534346"/>
            <a:ext cx="155078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Plus Jakarta Sans"/>
              </a:rPr>
              <a:t>Ruthvik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3885" y="4724846"/>
            <a:ext cx="155078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4D399"/>
                </a:solidFill>
                <a:latin typeface="JetBrains Mono"/>
              </a:rPr>
              <a:t>2510030348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d42493b2f11d4e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282bceedfc86479c"/>
          <a:stretch>
            <a:fillRect/>
          </a:stretch>
        </p:blipFill>
        <p:spPr>
          <a:xfrm>
            <a:off x="485775" y="2648842"/>
            <a:ext cx="3613100" cy="23413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282bceedfc86479c"/>
          <a:stretch>
            <a:fillRect/>
          </a:stretch>
        </p:blipFill>
        <p:spPr>
          <a:xfrm>
            <a:off x="4289375" y="2648842"/>
            <a:ext cx="3613100" cy="234136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282bceedfc86479c"/>
          <a:stretch>
            <a:fillRect/>
          </a:stretch>
        </p:blipFill>
        <p:spPr>
          <a:xfrm>
            <a:off x="8092975" y="2648842"/>
            <a:ext cx="3613100" cy="234136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c010c595eabd43f6"/>
          <a:stretch>
            <a:fillRect/>
          </a:stretch>
        </p:blipFill>
        <p:spPr>
          <a:xfrm>
            <a:off x="10159305" y="519112"/>
            <a:ext cx="154691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51fd009a4e824d18"/>
          <a:stretch>
            <a:fillRect/>
          </a:stretch>
        </p:blipFill>
        <p:spPr>
          <a:xfrm>
            <a:off x="723900" y="2886967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3496567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In-Engine Trigger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810892"/>
            <a:ext cx="3136850" cy="941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Unlike commercial tools (Mint/YNAB) that validate spending in backend Python/Node scripts, our system executes business constraints directly inside SQL BEFORE INSERT triggers, eliminating application-layer race conditions completely.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216b092ec36a4b3c"/>
          <a:stretch>
            <a:fillRect/>
          </a:stretch>
        </p:blipFill>
        <p:spPr>
          <a:xfrm>
            <a:off x="4527500" y="2886967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7500" y="3496567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Proactive Cash Burn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00" y="3810892"/>
            <a:ext cx="3136850" cy="941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Replaces reactive post-overspending alerts with Facebook Prophet models trained on indexed SQL views (vw_monthly_summary) to forecast 30-day cash trajectories and warn users 10 to 15 days before category budgets breach.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b2bde976fd1f4b95"/>
          <a:stretch>
            <a:fillRect/>
          </a:stretch>
        </p:blipFill>
        <p:spPr>
          <a:xfrm>
            <a:off x="8331100" y="2886967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1100" y="3496567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Atomic ML Ledger Synchronization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810892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Integrates unsupervised Isolation Forest fraud detection within explicit ACID transaction blocks. High-velocity anomalies are automatically intercepted and rolled back before ledger balance updates commit to disk.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6f51659848c4462b"/>
          <a:stretch>
            <a:fillRect/>
          </a:stretch>
        </p:blipFill>
        <p:spPr>
          <a:xfrm>
            <a:off x="866775" y="3001267"/>
            <a:ext cx="1714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cf6623017aec4ce3"/>
          <a:stretch>
            <a:fillRect/>
          </a:stretch>
        </p:blipFill>
        <p:spPr>
          <a:xfrm>
            <a:off x="4641800" y="3001267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2779076fdf934c26"/>
          <a:stretch>
            <a:fillRect/>
          </a:stretch>
        </p:blipFill>
        <p:spPr>
          <a:xfrm>
            <a:off x="8445400" y="3001267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Novelty of Developed Methodology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ee6dd177e26945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1c12fa4cb2e04682"/>
          <a:stretch>
            <a:fillRect/>
          </a:stretch>
        </p:blipFill>
        <p:spPr>
          <a:xfrm>
            <a:off x="6238875" y="2009775"/>
            <a:ext cx="54673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2d06b41229c04cc5"/>
          <a:stretch>
            <a:fillRect/>
          </a:stretch>
        </p:blipFill>
        <p:spPr>
          <a:xfrm>
            <a:off x="9936360" y="519112"/>
            <a:ext cx="1769864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" y="2513260"/>
            <a:ext cx="5257800" cy="589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Autonomous Trigger Interception: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When a user logs an expense, the database engine evaluates (current_spent + NEW.amount) &gt; budget_limit at zero network round-trip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217068"/>
            <a:ext cx="5257800" cy="589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Strict ACID Transaction Envelopes: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Multi-account balance transfers run inside BEGIN...COMMIT blocks. If debit or credit operations fail, complete automatic rollbacks prevent ledger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920876"/>
            <a:ext cx="5257800" cy="589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Integrated NLP Inference: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Raw merchant strings (e.g., AMZN MKTP*8K21) are vectorized via TF-IDF and classified before database insertion, achieving &gt;95% automated categorization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4624685"/>
            <a:ext cx="52578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Dual-Cache Synchronization: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Real-time dashboard updates leverage PostgreSQL triggers to push socket alerts without expensive sequential polling.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25d1a042738946ee"/>
          <a:stretch>
            <a:fillRect/>
          </a:stretch>
        </p:blipFill>
        <p:spPr>
          <a:xfrm>
            <a:off x="6248400" y="2019300"/>
            <a:ext cx="544830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2513260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3217068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3920876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624685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Hybrid Architecture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94d90bd5e6584f3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b678383111424c1b"/>
          <a:stretch>
            <a:fillRect/>
          </a:stretch>
        </p:blipFill>
        <p:spPr>
          <a:xfrm>
            <a:off x="485775" y="2653605"/>
            <a:ext cx="3613100" cy="23318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b678383111424c1b"/>
          <a:stretch>
            <a:fillRect/>
          </a:stretch>
        </p:blipFill>
        <p:spPr>
          <a:xfrm>
            <a:off x="4289375" y="2653605"/>
            <a:ext cx="3613100" cy="23318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b678383111424c1b"/>
          <a:stretch>
            <a:fillRect/>
          </a:stretch>
        </p:blipFill>
        <p:spPr>
          <a:xfrm>
            <a:off x="8092975" y="2653605"/>
            <a:ext cx="3613100" cy="23318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c64a0fc356064955"/>
          <a:stretch>
            <a:fillRect/>
          </a:stretch>
        </p:blipFill>
        <p:spPr>
          <a:xfrm>
            <a:off x="10159305" y="519112"/>
            <a:ext cx="154691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715f8589d29e4e76"/>
          <a:stretch>
            <a:fillRect/>
          </a:stretch>
        </p:blipFill>
        <p:spPr>
          <a:xfrm>
            <a:off x="723900" y="289173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3501330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Heterogeneous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815655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The ingestion engine adapts dynamically across varied inputs: structured CSVs, raw UPI banking memos, credit card SMS payloads, and standardized Open Banking JSON webhooks via an extensible adapter layer.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493f7f5822d74fb9"/>
          <a:stretch>
            <a:fillRect/>
          </a:stretch>
        </p:blipFill>
        <p:spPr>
          <a:xfrm>
            <a:off x="4527500" y="289173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7500" y="3501330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Cross-RDBMS Portability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00" y="3815655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Database scripts are architected with ANSI SQL compliance, supporting seamless deployment across PostgreSQL, MySQL 8.0+, SQLite (local offline mode), and distributed CockroachDB without schema refactoring.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93d0700b6002442e"/>
          <a:stretch>
            <a:fillRect/>
          </a:stretch>
        </p:blipFill>
        <p:spPr>
          <a:xfrm>
            <a:off x="8331100" y="289173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31100" y="3501330"/>
            <a:ext cx="32936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Multi-Tenant 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815655"/>
            <a:ext cx="3136850" cy="931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Features tenant-isolated schemas with row-level security (RLS) and dynamic connection pooling in SQLAlchemy, seamlessly scaling from single-user personal finance to family multi-account budgeting.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eccd3af4268b4ca3"/>
          <a:stretch>
            <a:fillRect/>
          </a:stretch>
        </p:blipFill>
        <p:spPr>
          <a:xfrm>
            <a:off x="866775" y="3006030"/>
            <a:ext cx="1714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1d0fa513d7f34cec"/>
          <a:stretch>
            <a:fillRect/>
          </a:stretch>
        </p:blipFill>
        <p:spPr>
          <a:xfrm>
            <a:off x="4656087" y="3006030"/>
            <a:ext cx="20002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b2e23d1ccda944ab"/>
          <a:stretch>
            <a:fillRect/>
          </a:stretch>
        </p:blipFill>
        <p:spPr>
          <a:xfrm>
            <a:off x="8416825" y="3006030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Adaptability Across Ecosystems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43d8a01422df48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8d5997ae40f64d38"/>
          <a:stretch>
            <a:fillRect/>
          </a:stretch>
        </p:blipFill>
        <p:spPr>
          <a:xfrm>
            <a:off x="485775" y="2559843"/>
            <a:ext cx="5467350" cy="2519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8d5997ae40f64d38"/>
          <a:stretch>
            <a:fillRect/>
          </a:stretch>
        </p:blipFill>
        <p:spPr>
          <a:xfrm>
            <a:off x="6238875" y="2559843"/>
            <a:ext cx="5467350" cy="25193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0305f52227044c3a"/>
          <a:stretch>
            <a:fillRect/>
          </a:stretch>
        </p:blipFill>
        <p:spPr>
          <a:xfrm>
            <a:off x="10307835" y="519112"/>
            <a:ext cx="139838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836068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Cold-Start Bayesian 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88493"/>
            <a:ext cx="49149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When a new user registers with zero historical transactions, traditional time-series models fail. Our methodology dynamically adapts using empirical Bayesian spending priors derived from demographic baseline cohorts.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160043"/>
            <a:ext cx="4914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As the user accumulates 14+ days of transaction history, the system seamlessly transitions from cohort priors to personalized Prophet parameter estimation with zero user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836068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Multi-Currency &amp; Real-Time FX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188493"/>
            <a:ext cx="49149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The schema supports native multi-currency ledgers via normalized ISO-4217 currency tables. Automated exchange rate synchronization calculates consolidated net-worth values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945731"/>
            <a:ext cx="4914900" cy="66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Composite B-Tree indexes on (user_id, currency_code, transaction_date) preserve sub-20ms multi-currency query performance regardless of international transaction volume.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Dynamic Adaptability in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77284206a24e426c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a04ca9fc49604405"/>
          <a:stretch>
            <a:fillRect/>
          </a:stretch>
        </p:blipFill>
        <p:spPr>
          <a:xfrm>
            <a:off x="485775" y="2365176"/>
            <a:ext cx="5467350" cy="29086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a04ca9fc49604405"/>
          <a:stretch>
            <a:fillRect/>
          </a:stretch>
        </p:blipFill>
        <p:spPr>
          <a:xfrm>
            <a:off x="6238875" y="2365176"/>
            <a:ext cx="5467350" cy="29086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7684b8e25fa0424b"/>
          <a:stretch>
            <a:fillRect/>
          </a:stretch>
        </p:blipFill>
        <p:spPr>
          <a:xfrm>
            <a:off x="10382250" y="519112"/>
            <a:ext cx="13239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641401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Data Privacy &amp; Portability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641401"/>
            <a:ext cx="516064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Plus Jakarta Sans"/>
              </a:rPr>
              <a:t>System Reproducibility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2993826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Bcrypt Salted Hashing: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Passwords hashed with work factor 12, preventing rainbow table attacks.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49478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Stateless JWT Authentication: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Short-lived access tokens paired with secure HTTP-only refresh tokens.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995737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Instant Exportability: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Full financial autonomy via one-click encrypted CSV and signed PDF statement downloads.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49669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Role-Based Access (RBAC):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Strict tenant isolation preventing cross-account access breaches.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2993826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Containerized Stack: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One-command setup using Docker Compose for PostgreSQL, FastAPI, and React.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49478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Versioned DDL Migrations: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Alembic tracking ensures database schemas can be stood up deterministically.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995737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Automated Test Harness: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Pytest suites verifying ACID rollbacks, SQL triggers, and ML inference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496692"/>
            <a:ext cx="47053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Synthetic Data Seeders: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Generates 100k normalized records for instant benchmarking and evaluation.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993826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49478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995737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49669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2993826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349478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995737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4496692"/>
            <a:ext cx="66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4D399"/>
                </a:solidFill>
                <a:latin typeface="Plus Jakarta Sans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775" y="428625"/>
            <a:ext cx="112204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3F4F6"/>
                </a:solidFill>
                <a:latin typeface="Plus Jakarta Sans"/>
              </a:rPr>
              <a:t>Security, Privacy &amp; Reproducibility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775" y="971550"/>
            <a:ext cx="1122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7561150d929a4e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e94e4ec150d64838"/>
          <a:stretch>
            <a:fillRect/>
          </a:stretch>
        </p:blipFill>
        <p:spPr>
          <a:xfrm>
            <a:off x="5762625" y="1609725"/>
            <a:ext cx="666750" cy="66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30816" y="2505075"/>
            <a:ext cx="2930366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35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0" y="3352800"/>
            <a:ext cx="6477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We extend our sincere gratitude to the evaluation committee and review panel for their invaluable time, guidance, and constructive evaluation throughout this milestone.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2312" y="5086350"/>
            <a:ext cx="5667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JetBrains Mono"/>
              </a:rPr>
              <a:t>Department of Computer Science &amp; Engineering • Academic Year 2025-2026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be0e0135c15448ca"/>
          <a:stretch>
            <a:fillRect/>
          </a:stretch>
        </p:blipFill>
        <p:spPr>
          <a:xfrm>
            <a:off x="5905500" y="1790700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d3f0228a85c14e4a"/>
          <a:stretch>
            <a:fillRect/>
          </a:stretch>
        </p:blipFill>
        <p:spPr>
          <a:xfrm>
            <a:off x="2967037" y="4410075"/>
            <a:ext cx="2038350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5f8ab98b8de2476d"/>
          <a:stretch>
            <a:fillRect/>
          </a:stretch>
        </p:blipFill>
        <p:spPr>
          <a:xfrm>
            <a:off x="5138737" y="4410075"/>
            <a:ext cx="2143125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04468fee448a46aa"/>
          <a:stretch>
            <a:fillRect/>
          </a:stretch>
        </p:blipFill>
        <p:spPr>
          <a:xfrm>
            <a:off x="7415212" y="4410075"/>
            <a:ext cx="1809750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dc40815cce004e3b"/>
          <a:stretch>
            <a:fillRect/>
          </a:stretch>
        </p:blipFill>
        <p:spPr>
          <a:xfrm>
            <a:off x="3052608" y="4539277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27e64650a7aa48d9"/>
          <a:stretch>
            <a:fillRect/>
          </a:stretch>
        </p:blipFill>
        <p:spPr>
          <a:xfrm>
            <a:off x="5232604" y="4514850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ebc51855468740cd"/>
          <a:stretch>
            <a:fillRect/>
          </a:stretch>
        </p:blipFill>
        <p:spPr>
          <a:xfrm>
            <a:off x="7484982" y="4530366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7700" y="1644550"/>
            <a:ext cx="2703611" cy="285750"/>
          </a:xfrm>
          <a:prstGeom prst="roundRect">
            <a:avLst>
              <a:gd name="adj" fmla="val 20000"/>
            </a:avLst>
          </a:prstGeom>
          <a:solidFill>
            <a:srgbClr val="0C2325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4032349"/>
            <a:ext cx="2609850" cy="647700"/>
          </a:xfrm>
          <a:prstGeom prst="roundRect">
            <a:avLst>
              <a:gd name="adj" fmla="val 14705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4032349"/>
            <a:ext cx="2609850" cy="647700"/>
          </a:xfrm>
          <a:prstGeom prst="roundRect">
            <a:avLst>
              <a:gd name="adj" fmla="val 14705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4032349"/>
            <a:ext cx="2609850" cy="647700"/>
          </a:xfrm>
          <a:prstGeom prst="roundRect">
            <a:avLst>
              <a:gd name="adj" fmla="val 14705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34450" y="4032349"/>
            <a:ext cx="2609850" cy="647700"/>
          </a:xfrm>
          <a:prstGeom prst="roundRect">
            <a:avLst>
              <a:gd name="adj" fmla="val 14705"/>
            </a:avLst>
          </a:prstGeom>
          <a:solidFill>
            <a:srgbClr val="121620"/>
          </a:solidFill>
          <a:ln w="9525">
            <a:solidFill>
              <a:srgbClr val="1F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700" y="2101750"/>
            <a:ext cx="1090136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Arial"/>
              </a:rPr>
              <a:t>AI-Powered Predictive Personal Finance &amp; Budget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3240881"/>
            <a:ext cx="9048750" cy="524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sz="1425" b="0" i="0" u="none">
                <a:solidFill>
                  <a:srgbClr val="94A3B8"/>
                </a:solidFill>
                <a:latin typeface="Arial"/>
              </a:rPr>
              <a:t>Polyglot persistence architecture, in-engine PGVector semantic search, and ACID-enforced SQL trigger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908649"/>
            <a:ext cx="10991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Arial"/>
              </a:rPr>
              <a:t>Team: S. Yaswanth Kumar (2510030264) • Veda Praneeth (2510030069) • Nikil (2510030358) • M. Jashwanth (2510030196) • Ruthvik (2510030348)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1701700"/>
            <a:ext cx="253216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0B981"/>
                </a:solidFill>
                <a:latin typeface="Consolas"/>
              </a:rPr>
              <a:t>FINAL EVALUATION • REVIEW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611" y="1711225"/>
            <a:ext cx="25008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Consolas"/>
              </a:rPr>
              <a:t>Target: 40/40 Total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175224"/>
            <a:ext cx="2809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4D399"/>
                </a:solidFill>
                <a:latin typeface="Consolas"/>
              </a:rPr>
              <a:t>Metric 1 (10M)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4365724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Arial"/>
              </a:rPr>
              <a:t>Accuracy of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925" y="4175224"/>
            <a:ext cx="2809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Consolas"/>
              </a:rPr>
              <a:t>Metric 2 (10M)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0925" y="4365724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Arial"/>
              </a:rPr>
              <a:t>Technical Competence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4175224"/>
            <a:ext cx="2809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A78BFA"/>
                </a:solidFill>
                <a:latin typeface="Consolas"/>
              </a:rPr>
              <a:t>Metric 3 (10M)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4365724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Arial"/>
              </a:rPr>
              <a:t>Innovation &amp; 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4175224"/>
            <a:ext cx="2809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59E0B"/>
                </a:solidFill>
                <a:latin typeface="Consolas"/>
              </a:rPr>
              <a:t>Metric 4 (10M)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4365724"/>
            <a:ext cx="2809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Arial"/>
              </a:rPr>
              <a:t>Utility to Society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33421" y="611385"/>
            <a:ext cx="1348978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05980"/>
            <a:ext cx="5353050" cy="2487810"/>
          </a:xfrm>
          <a:prstGeom prst="roundRect">
            <a:avLst>
              <a:gd name="adj" fmla="val 536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605980"/>
            <a:ext cx="5353050" cy="2487810"/>
          </a:xfrm>
          <a:prstGeom prst="roundRect">
            <a:avLst>
              <a:gd name="adj" fmla="val 5360"/>
            </a:avLst>
          </a:prstGeom>
          <a:solidFill>
            <a:srgbClr val="ECFDF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b81423fe828c403b"/>
          <a:stretch>
            <a:fillRect/>
          </a:stretch>
        </p:blipFill>
        <p:spPr>
          <a:xfrm>
            <a:off x="923925" y="2939355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b4a94302d1d64cc3"/>
          <a:stretch>
            <a:fillRect/>
          </a:stretch>
        </p:blipFill>
        <p:spPr>
          <a:xfrm>
            <a:off x="6543675" y="2939355"/>
            <a:ext cx="20955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47721" y="668535"/>
            <a:ext cx="121562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Consolas"/>
              </a:rPr>
              <a:t>Paradigm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1787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Arial"/>
              </a:rPr>
              <a:t>PROJECT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753766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Reactive Tracking vs. Predictive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39405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Arial"/>
              </a:rPr>
              <a:t>• Purely retrospective monthly expense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27995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Arial"/>
              </a:rPr>
              <a:t>• Application-layer validation causes race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16585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Arial"/>
              </a:rPr>
              <a:t>• Alerts triggered only after budget breach.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05176"/>
            <a:ext cx="5905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7F1D1D"/>
                </a:solidFill>
                <a:latin typeface="Arial"/>
              </a:rPr>
              <a:t>• Fragile keyword matching on bank memos.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3339405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Arial"/>
              </a:rPr>
              <a:t>• 30-day forward-looking cash burn forecasting.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3727995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Arial"/>
              </a:rPr>
              <a:t>• In-engine SQL triggers enforce 100% ACID blocks.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4116585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Arial"/>
              </a:rPr>
              <a:t>• Dynamic day-of-week spend surge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4505176"/>
            <a:ext cx="56483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47857"/>
                </a:solidFill>
                <a:latin typeface="Arial"/>
              </a:rPr>
              <a:t>• 64-D PGVector semantic search on natural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8725" y="2920305"/>
            <a:ext cx="342464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Arial"/>
              </a:rPr>
              <a:t>Legacy Financial Trackers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475" y="2920305"/>
            <a:ext cx="3652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5F46"/>
                </a:solidFill>
                <a:latin typeface="Arial"/>
              </a:rPr>
              <a:t>Proposed Predictive Engine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53352" y="611385"/>
            <a:ext cx="1429047" cy="266700"/>
          </a:xfrm>
          <a:prstGeom prst="roundRect">
            <a:avLst>
              <a:gd name="adj" fmla="val 21428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21185"/>
            <a:ext cx="35052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916435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821185"/>
            <a:ext cx="3505200" cy="20574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9d11f516033e4e95"/>
          <a:stretch>
            <a:fillRect/>
          </a:stretch>
        </p:blipFill>
        <p:spPr>
          <a:xfrm>
            <a:off x="866775" y="3083123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9cd8c544dbdf4b1f"/>
          <a:stretch>
            <a:fillRect/>
          </a:stretch>
        </p:blipFill>
        <p:spPr>
          <a:xfrm>
            <a:off x="4600575" y="3178373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90bbce5825a94aac"/>
          <a:stretch>
            <a:fillRect/>
          </a:stretch>
        </p:blipFill>
        <p:spPr>
          <a:xfrm>
            <a:off x="8334375" y="3083123"/>
            <a:ext cx="1809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67652" y="668535"/>
            <a:ext cx="129569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2563EB"/>
                </a:solidFill>
                <a:latin typeface="Consolas"/>
              </a:rPr>
              <a:t>SQLSTATE: 23514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690209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Arial"/>
              </a:rPr>
              <a:t>METRIC 2: TECHNICAL COMPETENCE (10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7247194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Polyglot Persistence &amp; Trigger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430785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PostgreSQL 18.4 3NF transactional ledger.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92608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MongoDB Atlas cloud audit logging.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221360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Sub-15ms cross-database event bridge.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575" y="3526035"/>
            <a:ext cx="37385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</a:t>
            </a:r>
            <a:r>
              <a:rPr sz="1350" b="0" i="0" u="none">
                <a:solidFill>
                  <a:srgbClr val="DC2626"/>
                </a:solidFill>
                <a:latin typeface="Arial"/>
              </a:rPr>
              <a:t>BEFORE INSERT</a:t>
            </a:r>
            <a:r>
              <a:rPr sz="1350" b="0" i="0" u="none">
                <a:solidFill>
                  <a:srgbClr val="475569"/>
                </a:solidFill>
                <a:latin typeface="Arial"/>
              </a:rPr>
              <a:t> limit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383083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100% atomic rollback on breach.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4126110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Eliminates concurrency race conditions.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375" y="3430785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FastAPI async core + Flask Swagger UI.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92608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64-D unit sphere vector embeddings.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4221360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Sub-8ms HNSW cosine vector search.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78360"/>
            <a:ext cx="212116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Polyglot Data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5375" y="3173610"/>
            <a:ext cx="219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In-Engine Triggers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0600" y="3078360"/>
            <a:ext cx="24639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Dual API &amp; PGVector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73232" y="611385"/>
            <a:ext cx="1909167" cy="266700"/>
          </a:xfrm>
          <a:prstGeom prst="roundRect">
            <a:avLst>
              <a:gd name="adj" fmla="val 21428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40235"/>
            <a:ext cx="3505200" cy="2019300"/>
          </a:xfrm>
          <a:prstGeom prst="roundRect">
            <a:avLst>
              <a:gd name="adj" fmla="val 66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840235"/>
            <a:ext cx="3505200" cy="2019300"/>
          </a:xfrm>
          <a:prstGeom prst="roundRect">
            <a:avLst>
              <a:gd name="adj" fmla="val 66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840235"/>
            <a:ext cx="3505200" cy="2019300"/>
          </a:xfrm>
          <a:prstGeom prst="roundRect">
            <a:avLst>
              <a:gd name="adj" fmla="val 66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7532" y="668535"/>
            <a:ext cx="17758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59669"/>
                </a:solidFill>
                <a:latin typeface="Consolas"/>
              </a:rPr>
              <a:t>Empirically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58089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Arial"/>
              </a:rPr>
              <a:t>METRIC 1: ACCURACY OF RESULTS (10 MARKS)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6750"/>
            <a:ext cx="609939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Empirical Accuracy &amp;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31" y="3116460"/>
            <a:ext cx="3690937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059669"/>
                </a:solidFill>
                <a:latin typeface="Arial"/>
              </a:rPr>
              <a:t>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457" y="387846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Arial"/>
              </a:rPr>
              <a:t>NLP Categorization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731" y="4154685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Arial"/>
              </a:rPr>
              <a:t>Hybrid Regex + TF-IDF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731" y="443091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59669"/>
                </a:solidFill>
                <a:latin typeface="Consolas"/>
              </a:rPr>
              <a:t>4.2ms inference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0531" y="3116460"/>
            <a:ext cx="3690937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7C3AED"/>
                </a:solidFill>
                <a:latin typeface="Arial"/>
              </a:rPr>
              <a:t>-0.22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8257" y="387846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Arial"/>
              </a:rPr>
              <a:t>Anomaly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0531" y="4154685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Arial"/>
              </a:rPr>
              <a:t>Flags 56x spending surges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531" y="443091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7C3AED"/>
                </a:solidFill>
                <a:latin typeface="Consolas"/>
              </a:rPr>
              <a:t>Zero false 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331" y="3116460"/>
            <a:ext cx="3690937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2563EB"/>
                </a:solidFill>
                <a:latin typeface="Arial"/>
              </a:rPr>
              <a:t>₹50.6k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2057" y="387846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Arial"/>
              </a:rPr>
              <a:t>30-Day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4331" y="4154685"/>
            <a:ext cx="369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Arial"/>
              </a:rPr>
              <a:t>Detects Saturday dining surge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4331" y="443091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2563EB"/>
                </a:solidFill>
                <a:latin typeface="Consolas"/>
              </a:rPr>
              <a:t>Day 16 early breach alert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73232" y="611385"/>
            <a:ext cx="1909167" cy="266700"/>
          </a:xfrm>
          <a:prstGeom prst="roundRect">
            <a:avLst>
              <a:gd name="adj" fmla="val 21428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21210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921198"/>
            <a:ext cx="3505200" cy="185737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21210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e1912ecb0f0a4cfe"/>
          <a:stretch>
            <a:fillRect/>
          </a:stretch>
        </p:blipFill>
        <p:spPr>
          <a:xfrm>
            <a:off x="866775" y="3283148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6c6422a8dd0248a7"/>
          <a:stretch>
            <a:fillRect/>
          </a:stretch>
        </p:blipFill>
        <p:spPr>
          <a:xfrm>
            <a:off x="4600575" y="3183135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7c4433d031a34e35"/>
          <a:stretch>
            <a:fillRect/>
          </a:stretch>
        </p:blipFill>
        <p:spPr>
          <a:xfrm>
            <a:off x="8334375" y="3283148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87532" y="668535"/>
            <a:ext cx="17758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C3AED"/>
                </a:solidFill>
                <a:latin typeface="Consolas"/>
              </a:rPr>
              <a:t>Zero Cloud API Egress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557435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Arial"/>
              </a:rPr>
              <a:t>METRIC 3: INNOVATION &amp; SUSTAINABILITY (10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58530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Predictive Modeling &amp; In-DB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630810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Dynamic spend probability curves.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92608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Replaces static budget divisions.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221360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Accurately flags impending spikes.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575" y="3530798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Multi-stage spending capacity warning.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4026098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Interactive halo dot on trendline.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4321373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Real-time notification feed dispatch.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375" y="3630810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Compact 64-D unit sphere vectors.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92608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Zero external LLM token fees.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4221360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Arial"/>
              </a:rPr>
              <a:t>• Low RAM footprint (&lt;120MB total).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575" y="3278385"/>
            <a:ext cx="26765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Day-of-Week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3178373"/>
            <a:ext cx="25339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80% Pre-Breach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175" y="3278385"/>
            <a:ext cx="244972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Sustainable In-DB 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93163" y="611385"/>
            <a:ext cx="1989236" cy="266700"/>
          </a:xfrm>
          <a:prstGeom prst="roundRect">
            <a:avLst>
              <a:gd name="adj" fmla="val 2142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21210"/>
            <a:ext cx="350520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21173"/>
            <a:ext cx="35052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821185"/>
            <a:ext cx="3505200" cy="20574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87adeff493c24c97"/>
          <a:stretch>
            <a:fillRect/>
          </a:stretch>
        </p:blipFill>
        <p:spPr>
          <a:xfrm>
            <a:off x="866775" y="3283148"/>
            <a:ext cx="2381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fd7a1e74173b4ce9"/>
          <a:stretch>
            <a:fillRect/>
          </a:stretch>
        </p:blipFill>
        <p:spPr>
          <a:xfrm>
            <a:off x="4600575" y="2983110"/>
            <a:ext cx="16192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ab60d4e8fadb4a5d"/>
          <a:stretch>
            <a:fillRect/>
          </a:stretch>
        </p:blipFill>
        <p:spPr>
          <a:xfrm>
            <a:off x="8334375" y="3083123"/>
            <a:ext cx="26670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07463" y="668535"/>
            <a:ext cx="185588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Consolas"/>
              </a:rPr>
              <a:t>Socio-Economic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63722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Arial"/>
              </a:rPr>
              <a:t>METRIC 4: UTILITY TO SOCIETY (10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6690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Arial"/>
              </a:rPr>
              <a:t>Social Impact &amp; Indian Localization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630810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Protects early-career professionals.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92608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Halts credit card revolving debt.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221360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Dampens impulse spending runs.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575" y="3330773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Parses high-frequency UPI micro-spends.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3826073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Classifies Blinkit &amp; Zepto quick-commerce.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4321373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Identifies daily financial micro-leakage.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375" y="3430785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Strict multi-tenant schema partitioning.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926085"/>
            <a:ext cx="308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Compliant with Indian DPDP privacy norms.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442138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Arial"/>
              </a:rPr>
              <a:t>• Zero external data leakage.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3278385"/>
            <a:ext cx="26815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Debt Spiral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0" y="2978348"/>
            <a:ext cx="26124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Indian UPI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6325" y="3078360"/>
            <a:ext cx="22608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Arial"/>
              </a:rPr>
              <a:t>DPDP Data Privacy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52079" y="2209800"/>
            <a:ext cx="3726805" cy="285750"/>
          </a:xfrm>
          <a:prstGeom prst="roundRect">
            <a:avLst>
              <a:gd name="adj" fmla="val 20000"/>
            </a:avLst>
          </a:prstGeom>
          <a:solidFill>
            <a:srgbClr val="0C2325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3184" y="2209800"/>
            <a:ext cx="3646735" cy="285750"/>
          </a:xfrm>
          <a:prstGeom prst="roundRect">
            <a:avLst>
              <a:gd name="adj" fmla="val 20000"/>
            </a:avLst>
          </a:prstGeom>
          <a:solidFill>
            <a:srgbClr val="102434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2604" y="4286250"/>
            <a:ext cx="1562397" cy="361950"/>
          </a:xfrm>
          <a:prstGeom prst="roundRect">
            <a:avLst>
              <a:gd name="adj" fmla="val 50000"/>
            </a:avLst>
          </a:prstGeom>
          <a:solidFill>
            <a:srgbClr val="0C2023"/>
          </a:solidFill>
          <a:ln w="9525">
            <a:solidFill>
              <a:srgbClr val="0C3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57402" y="4286250"/>
            <a:ext cx="1562397" cy="361950"/>
          </a:xfrm>
          <a:prstGeom prst="roundRect">
            <a:avLst>
              <a:gd name="adj" fmla="val 50000"/>
            </a:avLst>
          </a:prstGeom>
          <a:solidFill>
            <a:srgbClr val="10202F"/>
          </a:solidFill>
          <a:ln w="9525">
            <a:solidFill>
              <a:srgbClr val="163B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4286250"/>
            <a:ext cx="1562397" cy="361950"/>
          </a:xfrm>
          <a:prstGeom prst="roundRect">
            <a:avLst>
              <a:gd name="adj" fmla="val 50000"/>
            </a:avLst>
          </a:prstGeom>
          <a:solidFill>
            <a:srgbClr val="1B1B30"/>
          </a:solidFill>
          <a:ln w="9525">
            <a:solidFill>
              <a:srgbClr val="322E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86997" y="4286250"/>
            <a:ext cx="1562397" cy="361950"/>
          </a:xfrm>
          <a:prstGeom prst="roundRect">
            <a:avLst>
              <a:gd name="adj" fmla="val 50000"/>
            </a:avLst>
          </a:prstGeom>
          <a:solidFill>
            <a:srgbClr val="221D18"/>
          </a:solidFill>
          <a:ln w="9525">
            <a:solidFill>
              <a:srgbClr val="463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30660" y="2667000"/>
            <a:ext cx="7930678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3750" b="1" i="0" u="none">
                <a:solidFill>
                  <a:srgbClr val="F8FAFC"/>
                </a:solidFill>
                <a:latin typeface="Arial"/>
              </a:rPr>
              <a:t>Thank You &amp; Defense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0687" y="3409950"/>
            <a:ext cx="8810625" cy="8549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Arial"/>
              </a:rPr>
              <a:t>Production-grade architecture uniting PostgreSQL 18.4, MongoDB Atlas Cloud, and in-engine </a:t>
            </a:r>
            <a:r>
              <a:rPr sz="1500" b="0" i="0" u="none" dirty="0" err="1">
                <a:solidFill>
                  <a:srgbClr val="94A3B8"/>
                </a:solidFill>
                <a:latin typeface="Arial"/>
              </a:rPr>
              <a:t>PGVector</a:t>
            </a:r>
            <a:r>
              <a:rPr sz="1500" b="0" i="0" u="none" dirty="0">
                <a:solidFill>
                  <a:srgbClr val="94A3B8"/>
                </a:solidFill>
                <a:latin typeface="Arial"/>
              </a:rPr>
              <a:t> AI. Full marks coverage across all 4 evaluation metrics.</a:t>
            </a:r>
            <a:endParaRPr lang="en-IN" sz="1500" b="0" i="0" u="none" dirty="0">
              <a:solidFill>
                <a:srgbClr val="94A3B8"/>
              </a:solidFill>
              <a:latin typeface="Arial"/>
            </a:endParaRPr>
          </a:p>
          <a:p>
            <a:pPr algn="ctr">
              <a:lnSpc>
                <a:spcPts val="2250"/>
              </a:lnSpc>
            </a:pPr>
            <a:r>
              <a:rPr lang="en-IN" sz="1500" dirty="0">
                <a:solidFill>
                  <a:srgbClr val="94A3B8"/>
                </a:solidFill>
                <a:latin typeface="Arial"/>
                <a:hlinkClick r:id="rcIdad9654f5713b4706"/>
              </a:rPr>
              <a:t>GitHub link</a:t>
            </a:r>
            <a:endParaRPr lang="en-IN" sz="150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19579" y="2266950"/>
            <a:ext cx="439180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10B981"/>
                </a:solidFill>
                <a:latin typeface="Consolas"/>
              </a:rPr>
              <a:t>verify_system.py: 17/17 Tests Passed (100%)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692" y="2266950"/>
            <a:ext cx="429171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Consolas"/>
              </a:rPr>
              <a:t>Tier 1 (5/5) • Tier 2 (6/6) • Tier 3 (6/6)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8754" y="4381500"/>
            <a:ext cx="161009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4D399"/>
                </a:solidFill>
                <a:latin typeface="Consolas"/>
              </a:rPr>
              <a:t>Metric 1: 10/10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3552" y="4381500"/>
            <a:ext cx="161009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Consolas"/>
              </a:rPr>
              <a:t>Metric 2: 10/10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8350" y="4381500"/>
            <a:ext cx="161009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A78BFA"/>
                </a:solidFill>
                <a:latin typeface="Consolas"/>
              </a:rPr>
              <a:t>Metric 3: 10/10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147" y="4381500"/>
            <a:ext cx="161009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59E0B"/>
                </a:solidFill>
                <a:latin typeface="Consolas"/>
              </a:rPr>
              <a:t>Metric 4: 10/10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622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monospace</vt:lpstr>
      <vt:lpstr>Outfit</vt:lpstr>
      <vt:lpstr>Outfit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/>
  <keywords/>
  <dc:description>generated using python-pptx</dc:description>
  <lastModifiedBy>sukhavasi yaswanth kumar</lastModifiedBy>
  <revision>3</revision>
  <dcterms:created xsi:type="dcterms:W3CDTF">2013-01-27T09:14:16.0000000Z</dcterms:created>
  <dcterms:modified xsi:type="dcterms:W3CDTF">2026-10-11T13:51:20.9420000Z</dcterms:modified>
  <category/>
</coreProperties>
</file>