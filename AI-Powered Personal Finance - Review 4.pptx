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JetBrains Mono"/>
      <p:regular r:id="rId9"/>
    </p:embeddedFont>
    <p:embeddedFont>
      <p:font typeface="Plus Jakarta Sans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7700" y="1677888"/>
            <a:ext cx="2600325" cy="304800"/>
          </a:xfrm>
          <a:prstGeom prst="roundRect">
            <a:avLst>
              <a:gd name="adj" fmla="val 18750"/>
            </a:avLst>
          </a:prstGeom>
          <a:solidFill>
            <a:srgbClr val="0C2325"/>
          </a:solidFill>
          <a:ln w="9525">
            <a:solidFill>
              <a:srgbClr val="0C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" y="4084736"/>
            <a:ext cx="2609850" cy="695325"/>
          </a:xfrm>
          <a:prstGeom prst="roundRect">
            <a:avLst>
              <a:gd name="adj" fmla="val 13698"/>
            </a:avLst>
          </a:prstGeom>
          <a:solidFill>
            <a:srgbClr val="121620"/>
          </a:solidFill>
          <a:ln w="9525">
            <a:solidFill>
              <a:srgbClr val="1F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4084736"/>
            <a:ext cx="2609850" cy="695325"/>
          </a:xfrm>
          <a:prstGeom prst="roundRect">
            <a:avLst>
              <a:gd name="adj" fmla="val 13698"/>
            </a:avLst>
          </a:prstGeom>
          <a:solidFill>
            <a:srgbClr val="121620"/>
          </a:solidFill>
          <a:ln w="9525">
            <a:solidFill>
              <a:srgbClr val="1F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4084736"/>
            <a:ext cx="2609850" cy="695325"/>
          </a:xfrm>
          <a:prstGeom prst="roundRect">
            <a:avLst>
              <a:gd name="adj" fmla="val 13698"/>
            </a:avLst>
          </a:prstGeom>
          <a:solidFill>
            <a:srgbClr val="121620"/>
          </a:solidFill>
          <a:ln w="9525">
            <a:solidFill>
              <a:srgbClr val="1F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34450" y="4084736"/>
            <a:ext cx="2609850" cy="695325"/>
          </a:xfrm>
          <a:prstGeom prst="roundRect">
            <a:avLst>
              <a:gd name="adj" fmla="val 13698"/>
            </a:avLst>
          </a:prstGeom>
          <a:solidFill>
            <a:srgbClr val="121620"/>
          </a:solidFill>
          <a:ln w="9525">
            <a:solidFill>
              <a:srgbClr val="1F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700" y="2154138"/>
            <a:ext cx="10901362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 dirty="0">
                <a:solidFill>
                  <a:srgbClr val="F8FAFC"/>
                </a:solidFill>
                <a:latin typeface="Plus Jakarta Sans"/>
              </a:rPr>
              <a:t>AI-Powered Predictive Personal Finance &amp; Budget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3293268"/>
            <a:ext cx="9048750" cy="524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sz="1425" b="0" i="0" u="none">
                <a:solidFill>
                  <a:srgbClr val="94A3B8"/>
                </a:solidFill>
                <a:latin typeface="Plus Jakarta Sans"/>
              </a:rPr>
              <a:t>Polyglot persistence architecture, in-engine PGVector semantic search, and ACID-enforced SQL trigger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5008661"/>
            <a:ext cx="115443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Team: S. Yaswanth Kumar (2510030264) • Veda Praneeth (2510030069) • Nikil (2510030358) • M. Jashwanth (2510030196) • Ruthvik (2510030348)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1735038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10B981"/>
                </a:solidFill>
                <a:latin typeface="JetBrains Mono"/>
              </a:rPr>
              <a:t>FINAL EVALUATION • REVIEW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2325" y="1744563"/>
            <a:ext cx="2381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"/>
              </a:rPr>
              <a:t>Target: 40/40 Total 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4227611"/>
            <a:ext cx="2809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4D399"/>
                </a:solidFill>
                <a:latin typeface="JetBrains Mono"/>
              </a:rPr>
              <a:t>Metric 1 (10M)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" y="4437161"/>
            <a:ext cx="2809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Accuracy of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0925" y="4227611"/>
            <a:ext cx="2809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Metric 2 (10M)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0925" y="4437161"/>
            <a:ext cx="2809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Technical Competence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175" y="4227611"/>
            <a:ext cx="2809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A78BFA"/>
                </a:solidFill>
                <a:latin typeface="JetBrains Mono"/>
              </a:rPr>
              <a:t>Metric 3 (10M)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4437161"/>
            <a:ext cx="2809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Innovation &amp; Sustainability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5425" y="4227611"/>
            <a:ext cx="2809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59E0B"/>
                </a:solidFill>
                <a:latin typeface="JetBrains Mono"/>
              </a:rPr>
              <a:t>Metric 4 (10M)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5425" y="4437161"/>
            <a:ext cx="2809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Utility to Society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87000" y="611385"/>
            <a:ext cx="129540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05980"/>
            <a:ext cx="5353050" cy="2506860"/>
          </a:xfrm>
          <a:prstGeom prst="roundRect">
            <a:avLst>
              <a:gd name="adj" fmla="val 5319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605980"/>
            <a:ext cx="5353050" cy="2506860"/>
          </a:xfrm>
          <a:prstGeom prst="roundRect">
            <a:avLst>
              <a:gd name="adj" fmla="val 5319"/>
            </a:avLst>
          </a:prstGeom>
          <a:solidFill>
            <a:srgbClr val="ECFDF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48880"/>
            <a:ext cx="20955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2948880"/>
            <a:ext cx="20955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01300" y="668535"/>
            <a:ext cx="1162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Paradigm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7310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PROJECT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7675959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Reactive Tracking vs. Predictive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58455"/>
            <a:ext cx="5905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7F1D1D"/>
                </a:solidFill>
                <a:latin typeface="Plus Jakarta Sans"/>
              </a:rPr>
              <a:t>• Purely retrospective monthly expense logs.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747045"/>
            <a:ext cx="5905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7F1D1D"/>
                </a:solidFill>
                <a:latin typeface="Plus Jakarta Sans"/>
              </a:rPr>
              <a:t>• Application-layer validation causes race conditions.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135635"/>
            <a:ext cx="5905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7F1D1D"/>
                </a:solidFill>
                <a:latin typeface="Plus Jakarta Sans"/>
              </a:rPr>
              <a:t>• Alerts triggered only after budget breach.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24226"/>
            <a:ext cx="5905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7F1D1D"/>
                </a:solidFill>
                <a:latin typeface="Plus Jakarta Sans"/>
              </a:rPr>
              <a:t>• Fragile keyword matching on bank memos.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3358455"/>
            <a:ext cx="56483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47857"/>
                </a:solidFill>
                <a:latin typeface="Plus Jakarta Sans"/>
              </a:rPr>
              <a:t>• 30-day forward-looking cash burn forecasting.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675" y="3747045"/>
            <a:ext cx="56483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47857"/>
                </a:solidFill>
                <a:latin typeface="Plus Jakarta Sans"/>
              </a:rPr>
              <a:t>• In-engine SQL triggers enforce 100% ACID blocks.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4135635"/>
            <a:ext cx="56483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47857"/>
                </a:solidFill>
                <a:latin typeface="Plus Jakarta Sans"/>
              </a:rPr>
              <a:t>• Dynamic day-of-week spend surge prediction.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4524226"/>
            <a:ext cx="56483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47857"/>
                </a:solidFill>
                <a:latin typeface="Plus Jakarta Sans"/>
              </a:rPr>
              <a:t>• 64-D PGVector semantic search on natural queries.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8725" y="2920305"/>
            <a:ext cx="34004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Plus Jakarta Sans"/>
              </a:rPr>
              <a:t>Legacy Financial Trackers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475" y="2920305"/>
            <a:ext cx="366295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5F46"/>
                </a:solidFill>
                <a:latin typeface="Plus Jakarta Sans"/>
              </a:rPr>
              <a:t>Proposed Predictive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10800" y="611385"/>
            <a:ext cx="1371600" cy="28575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64023"/>
            <a:ext cx="35052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878335"/>
            <a:ext cx="3505200" cy="196215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664023"/>
            <a:ext cx="35052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2935485"/>
            <a:ext cx="18097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575" y="3149798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75" y="2935485"/>
            <a:ext cx="18097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25100" y="668535"/>
            <a:ext cx="1238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563EB"/>
                </a:solidFill>
                <a:latin typeface="JetBrains Mono"/>
              </a:rPr>
              <a:t>SQLSTATE: 23514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6917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METRIC 2: TECHNICAL COMPETENCE (10 MARKS)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7263407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Polyglot Persistence &amp; Trigger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292673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PostgreSQL 18.4 3NF transactional ledger.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3826073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MongoDB Atlas cloud audit logging.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359473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Sub-15ms cross-database event bridge.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575" y="3506985"/>
            <a:ext cx="3738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0" i="0" u="none">
                <a:solidFill>
                  <a:srgbClr val="DC2626"/>
                </a:solidFill>
                <a:latin typeface="Plus Jakarta Sans"/>
              </a:rPr>
              <a:t>BEFORE INSERT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limit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575" y="3830835"/>
            <a:ext cx="3738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100% atomic rollback on breach.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575" y="4145160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Eliminates concurrency race conditions.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4375" y="3292673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FastAPI async core + Flask Swagger UI.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4375" y="3826073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64-D unit sphere vector embeddings.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4359473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Sub-8ms HNSW cosine vector search.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921198"/>
            <a:ext cx="21502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Polyglot Data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5375" y="3135510"/>
            <a:ext cx="221277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In-Engine Triggers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0600" y="2921198"/>
            <a:ext cx="248781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Dual API &amp; PGVector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53600" y="611385"/>
            <a:ext cx="1828800" cy="28575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21185"/>
            <a:ext cx="3505200" cy="2076450"/>
          </a:xfrm>
          <a:prstGeom prst="roundRect">
            <a:avLst>
              <a:gd name="adj" fmla="val 64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821185"/>
            <a:ext cx="3505200" cy="2076450"/>
          </a:xfrm>
          <a:prstGeom prst="roundRect">
            <a:avLst>
              <a:gd name="adj" fmla="val 64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821185"/>
            <a:ext cx="3505200" cy="2076450"/>
          </a:xfrm>
          <a:prstGeom prst="roundRect">
            <a:avLst>
              <a:gd name="adj" fmla="val 64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67900" y="668535"/>
            <a:ext cx="1695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59669"/>
                </a:solidFill>
                <a:latin typeface="JetBrains Mono"/>
              </a:rPr>
              <a:t>Empirically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5953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METRIC 1: ACCURACY OF RESULTS (10 MARKS)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6250781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Empirical Accuracy &amp;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731" y="3097410"/>
            <a:ext cx="3690937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059669"/>
                </a:solidFill>
                <a:latin typeface="Plus Jakarta Sans"/>
              </a:rPr>
              <a:t>98%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457" y="385941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NLP Categorization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731" y="4154685"/>
            <a:ext cx="3690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Hybrid Regex + TF-IDF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731" y="4449960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59669"/>
                </a:solidFill>
                <a:latin typeface="JetBrains Mono"/>
              </a:rPr>
              <a:t>4.2ms inference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0531" y="3097410"/>
            <a:ext cx="3690937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7C3AED"/>
                </a:solidFill>
                <a:latin typeface="Plus Jakarta Sans"/>
              </a:rPr>
              <a:t>-0.22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8257" y="385941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Anomaly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0531" y="4154685"/>
            <a:ext cx="3690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Flags 56x spending surges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0531" y="4449960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7C3AED"/>
                </a:solidFill>
                <a:latin typeface="JetBrains Mono"/>
              </a:rPr>
              <a:t>Zero false positives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4331" y="3097410"/>
            <a:ext cx="3690937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2563EB"/>
                </a:solidFill>
                <a:latin typeface="Plus Jakarta Sans"/>
              </a:rPr>
              <a:t>₹50.6k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2057" y="385941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30-Day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4331" y="4154685"/>
            <a:ext cx="3690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Detects Saturday dining surge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4331" y="4449960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2563EB"/>
                </a:solidFill>
                <a:latin typeface="JetBrains Mono"/>
              </a:rPr>
              <a:t>Day 16 early breach alert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53600" y="611385"/>
            <a:ext cx="1828800" cy="28575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92635"/>
            <a:ext cx="350520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773560"/>
            <a:ext cx="3505200" cy="21717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883098"/>
            <a:ext cx="3505200" cy="1952625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264098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575" y="3045023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75" y="3154560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67900" y="668535"/>
            <a:ext cx="1695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C3AED"/>
                </a:solidFill>
                <a:latin typeface="JetBrains Mono"/>
              </a:rPr>
              <a:t>Zero Cloud API Egress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5798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METRIC 3: INNOVATION &amp; SUSTAINABILITY (10 MARKS)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608826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Predictive Modeling &amp; In-DB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621285"/>
            <a:ext cx="3738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Dynamic spend probability curves.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3935610"/>
            <a:ext cx="3738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Replaces static budget divisions.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249935"/>
            <a:ext cx="3738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Accurately flags impending spikes.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575" y="3402210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Multi-stage spending capacity warning.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575" y="3935610"/>
            <a:ext cx="3738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Interactive halo dot on trendline.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575" y="4249935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Real-time notification feed dispatch.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4375" y="3511748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Compact 64-D unit sphere vectors.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4375" y="4045148"/>
            <a:ext cx="3738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Zero external LLM token fees.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4359473"/>
            <a:ext cx="3738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Low RAM footprint (&lt;120MB total).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1575" y="3249810"/>
            <a:ext cx="292536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Day-of-Week Modeling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3030735"/>
            <a:ext cx="268783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80% Pre-Breach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175" y="3140273"/>
            <a:ext cx="251281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Sustainable In-DB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77400" y="611385"/>
            <a:ext cx="1905000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83098"/>
            <a:ext cx="3505200" cy="1952625"/>
          </a:xfrm>
          <a:prstGeom prst="roundRect">
            <a:avLst>
              <a:gd name="adj" fmla="val 58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664023"/>
            <a:ext cx="3505200" cy="2390775"/>
          </a:xfrm>
          <a:prstGeom prst="roundRect">
            <a:avLst>
              <a:gd name="adj" fmla="val 47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773560"/>
            <a:ext cx="3505200" cy="21717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154560"/>
            <a:ext cx="23812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575" y="2935485"/>
            <a:ext cx="16192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75" y="3045023"/>
            <a:ext cx="26670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91700" y="668535"/>
            <a:ext cx="1771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JetBrains Mono"/>
              </a:rPr>
              <a:t>Socio-Economic Utility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6500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METRIC 4: UTILITY TO SOCIETY (10 MARKS)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6825853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Social Impact &amp; Indian Localization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511748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Protects early-career professionals.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4045148"/>
            <a:ext cx="3738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Halts credit card revolving debt.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359473"/>
            <a:ext cx="3738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Dampens impulse spending runs.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575" y="3292673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Parses high-frequency UPI micro-spends.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575" y="3826073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Classifies Blinkit &amp; Zepto quick-commerce.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575" y="4359473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Identifies daily financial micro-leakage.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4375" y="3402210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Strict multi-tenant schema partitioning.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4375" y="3935610"/>
            <a:ext cx="30861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Compliant with Indian DPDP privacy norms.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4469010"/>
            <a:ext cx="3738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Zero external data leakage.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50" y="3140273"/>
            <a:ext cx="27003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Debt Spiral Prevention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0" y="2921198"/>
            <a:ext cx="26003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Indian UPI Ecosystem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6325" y="3030735"/>
            <a:ext cx="228778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DPDP Data Privacy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14600" y="2047875"/>
            <a:ext cx="3562350" cy="304800"/>
          </a:xfrm>
          <a:prstGeom prst="roundRect">
            <a:avLst>
              <a:gd name="adj" fmla="val 18750"/>
            </a:avLst>
          </a:prstGeom>
          <a:solidFill>
            <a:srgbClr val="0C2325"/>
          </a:solidFill>
          <a:ln w="9525">
            <a:solidFill>
              <a:srgbClr val="0C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047875"/>
            <a:ext cx="3486150" cy="304800"/>
          </a:xfrm>
          <a:prstGeom prst="roundRect">
            <a:avLst>
              <a:gd name="adj" fmla="val 18750"/>
            </a:avLst>
          </a:prstGeom>
          <a:solidFill>
            <a:srgbClr val="102434"/>
          </a:solidFill>
          <a:ln w="9525">
            <a:solidFill>
              <a:srgbClr val="163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857500" y="4429125"/>
            <a:ext cx="1504950" cy="381000"/>
          </a:xfrm>
          <a:prstGeom prst="roundRect">
            <a:avLst>
              <a:gd name="adj" fmla="val 50000"/>
            </a:avLst>
          </a:prstGeom>
          <a:solidFill>
            <a:srgbClr val="0C2023"/>
          </a:solidFill>
          <a:ln w="9525">
            <a:solidFill>
              <a:srgbClr val="0C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14850" y="4429125"/>
            <a:ext cx="1504950" cy="381000"/>
          </a:xfrm>
          <a:prstGeom prst="roundRect">
            <a:avLst>
              <a:gd name="adj" fmla="val 50000"/>
            </a:avLst>
          </a:prstGeom>
          <a:solidFill>
            <a:srgbClr val="10202F"/>
          </a:solidFill>
          <a:ln w="9525">
            <a:solidFill>
              <a:srgbClr val="163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4429125"/>
            <a:ext cx="1504950" cy="381000"/>
          </a:xfrm>
          <a:prstGeom prst="roundRect">
            <a:avLst>
              <a:gd name="adj" fmla="val 50000"/>
            </a:avLst>
          </a:prstGeom>
          <a:solidFill>
            <a:srgbClr val="1B1B30"/>
          </a:solidFill>
          <a:ln w="9525">
            <a:solidFill>
              <a:srgbClr val="322E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29550" y="4429125"/>
            <a:ext cx="1504950" cy="381000"/>
          </a:xfrm>
          <a:prstGeom prst="roundRect">
            <a:avLst>
              <a:gd name="adj" fmla="val 50000"/>
            </a:avLst>
          </a:prstGeom>
          <a:solidFill>
            <a:srgbClr val="221D18"/>
          </a:solidFill>
          <a:ln w="9525">
            <a:solidFill>
              <a:srgbClr val="463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64246" y="2524125"/>
            <a:ext cx="8063507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sz="3750" b="1" i="0" u="none">
                <a:solidFill>
                  <a:srgbClr val="F8FAFC"/>
                </a:solidFill>
                <a:latin typeface="Plus Jakarta Sans"/>
              </a:rPr>
              <a:t>Thank You &amp; Defense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0687" y="3267075"/>
            <a:ext cx="8810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Production-grade architecture uniting PostgreSQL 18.4, MongoDB Atlas Cloud, and in-engine PGVector AI. Full marks coverage across all 4 evaluation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2656" y="2105025"/>
            <a:ext cx="418623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10B981"/>
                </a:solidFill>
                <a:latin typeface="JetBrains Mono"/>
              </a:rPr>
              <a:t>verify_system.py: 17/17 Tests Passed (100%)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8831" y="2105025"/>
            <a:ext cx="40909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JetBrains Mono"/>
              </a:rPr>
              <a:t>Tier 1 (5/5) • Tier 2 (6/6) • Tier 3 (6/6)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0831" y="4524375"/>
            <a:ext cx="15382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4D399"/>
                </a:solidFill>
                <a:latin typeface="JetBrains Mono"/>
              </a:rPr>
              <a:t>Metric 1: 10/10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181" y="4524375"/>
            <a:ext cx="15382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JetBrains Mono"/>
              </a:rPr>
              <a:t>Metric 2: 10/10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5531" y="4524375"/>
            <a:ext cx="15382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A78BFA"/>
                </a:solidFill>
                <a:latin typeface="JetBrains Mono"/>
              </a:rPr>
              <a:t>Metric 3: 10/10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2881" y="4524375"/>
            <a:ext cx="15382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59E0B"/>
                </a:solidFill>
                <a:latin typeface="JetBrains Mono"/>
              </a:rPr>
              <a:t>Metric 4: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562</Words>
  <Application>Microsoft Office PowerPoint</Application>
  <PresentationFormat>Widescreen</PresentationFormat>
  <Paragraphs>94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Plus Jakarta Sans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sukhavasi yaswanth kumar</cp:lastModifiedBy>
  <cp:revision>1</cp:revision>
  <dcterms:created xsi:type="dcterms:W3CDTF">2013-01-27T09:14:16Z</dcterms:created>
  <dcterms:modified xsi:type="dcterms:W3CDTF">2026-10-11T13:44:19Z</dcterms:modified>
  <cp:category/>
</cp:coreProperties>
</file>