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592" y="1875978"/>
            <a:ext cx="2512814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410521"/>
            <a:ext cx="179829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140" y="4410521"/>
            <a:ext cx="179829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780" y="4410521"/>
            <a:ext cx="179829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420" y="4410521"/>
            <a:ext cx="179829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060" y="4410521"/>
            <a:ext cx="1798439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5563" y="2256978"/>
            <a:ext cx="6980872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750" b="1" i="0" u="none">
                <a:solidFill>
                  <a:srgbClr val="FFFFFF"/>
                </a:solidFill>
                <a:latin typeface="Plus Jakarta Sans"/>
              </a:rPr>
              <a:t>AI-Powered Personal Finance</a:t>
            </a:r>
            <a:r>
              <a:t>
</a:t>
            </a:r>
            <a:r>
              <a:rPr sz="3750" b="1" i="0" u="none">
                <a:solidFill>
                  <a:srgbClr val="FFFFFF"/>
                </a:solidFill>
                <a:latin typeface="Plus Jakarta Sans"/>
              </a:rPr>
              <a:t> &amp; Predictive Budget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3504753"/>
            <a:ext cx="8191500" cy="524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66"/>
              </a:lnSpc>
            </a:pPr>
            <a:r>
              <a:rPr sz="1425" b="0" i="0" u="none">
                <a:solidFill>
                  <a:srgbClr val="CBD5E1"/>
                </a:solidFill>
                <a:latin typeface="Plus Jakarta Sans"/>
              </a:rPr>
              <a:t>A Robust Hybrid Database-ML Methodology: Real-Time In-Engine Trigger Validation, Cross-Platform Adaptability, Empirical Benchmarking &amp; Comprehensive Dissemination.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S. Yaswanth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32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896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Veda Praneeth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896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060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K.</a:t>
            </a:r>
            <a:r>
              <a:rPr sz="975" b="1" i="0" u="none" dirty="0">
                <a:solidFill>
                  <a:srgbClr val="F1F5F9"/>
                </a:solidFill>
                <a:latin typeface="Plus Jakarta Sans"/>
              </a:rPr>
              <a:t>Nikil</a:t>
            </a:r>
            <a:r>
              <a:rPr lang="en-IN" sz="975" b="1" i="0" u="none" dirty="0" err="1">
                <a:solidFill>
                  <a:srgbClr val="F1F5F9"/>
                </a:solidFill>
                <a:latin typeface="Plus Jakarta Sans"/>
              </a:rPr>
              <a:t>eshwar</a:t>
            </a:r>
            <a:endParaRPr sz="975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2060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2510030358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224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M</a:t>
            </a:r>
            <a:r>
              <a:rPr sz="975" b="1" i="0" u="none" dirty="0">
                <a:solidFill>
                  <a:srgbClr val="F1F5F9"/>
                </a:solidFill>
                <a:latin typeface="Plus Jakarta Sans"/>
              </a:rPr>
              <a:t>. Jashwanth</a:t>
            </a:r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 kumar</a:t>
            </a:r>
            <a:endParaRPr sz="975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5224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3885" y="4534346"/>
            <a:ext cx="155078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Ruthvik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3885" y="4724846"/>
            <a:ext cx="155078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48842"/>
            <a:ext cx="3613100" cy="23413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75" y="2648842"/>
            <a:ext cx="3613100" cy="23413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648842"/>
            <a:ext cx="3613100" cy="23413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305" y="519112"/>
            <a:ext cx="154691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886967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In-Engine Trigger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810892"/>
            <a:ext cx="3136850" cy="941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commercial tools (Mint/YNAB) that validate spending in backend Python/Node scripts, our system executes business constraints directly inside SQL BEFORE INSERT triggers, eliminating application-layer race conditions completely.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288696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75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Proactive Cash Burn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810892"/>
            <a:ext cx="3136850" cy="941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Replaces reactive post-overspending alerts with Facebook Prophet models trained on indexed SQL views (vw_monthly_summary) to forecast 30-day cash trajectories and warn users 10 to 15 days before category budgets breach.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100" y="2886967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11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Atomic ML Ledger 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810892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Integrates unsupervised Isolation Forest fraud detection within explicit ACID transaction blocks. High-velocity anomalies are automatically intercepted and rolled back before ledger balance updates commit to disk.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001267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1800" y="3001267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400" y="300126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Novelty of Developed 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09775"/>
            <a:ext cx="54673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360" y="519112"/>
            <a:ext cx="1769864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2513260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Autonomous Trigger Interception: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When a user logs an expense, the database engine evaluates (current_spent + NEW.amount) &gt; budget_limit at zero network round-trip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217068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Strict ACID Transaction Envelopes: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Multi-account balance transfers run inside BEGIN...COMMIT blocks. If debit or credit operations fail, complete automatic rollbacks prevent ledger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920876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Integrated NLP Inference: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Raw merchant strings (e.g., AMZN MKTP*8K21) are vectorized via TF-IDF and classified before database insertion, achieving &gt;95% automated categorization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4624685"/>
            <a:ext cx="52578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Dual-Cache Synchronization: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Real-time dashboard updates leverage PostgreSQL triggers to push socket alerts without expensive sequential polling.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019300"/>
            <a:ext cx="544830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2513260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3217068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392087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624685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Hybrid Architecture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53605"/>
            <a:ext cx="3613100" cy="23318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75" y="2653605"/>
            <a:ext cx="3613100" cy="23318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653605"/>
            <a:ext cx="3613100" cy="23318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305" y="519112"/>
            <a:ext cx="154691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89173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Heterogeneous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The ingestion engine adapts dynamically across varied inputs: structured CSVs, raw UPI banking memos, credit card SMS payloads, and standardized Open Banking JSON webhooks via an extensible adapter layer.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500" y="289173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75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Cross-RDBMS Portability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Database scripts are architected with ANSI SQL compliance, supporting seamless deployment across PostgreSQL, MySQL 8.0+, SQLite (local offline mode), and distributed CockroachDB without schema refactoring.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100" y="289173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11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Multi-Tenant 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Features tenant-isolated schemas with row-level security (RLS) and dynamic connection pooling in SQLAlchemy, seamlessly scaling from single-user personal finance to family multi-account budgeting.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006030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6087" y="3006030"/>
            <a:ext cx="20002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6825" y="3006030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Adaptability Across Ecosystems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59843"/>
            <a:ext cx="5467350" cy="2519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59843"/>
            <a:ext cx="5467350" cy="25193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835" y="519112"/>
            <a:ext cx="139838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36068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Cold-Start Bayesian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8493"/>
            <a:ext cx="4914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When a new user registers with zero historical transactions, traditional time-series models fail. Our methodology dynamically adapts using empirical Bayesian spending priors derived from demographic baseline cohorts.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60043"/>
            <a:ext cx="4914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As the user accumulates 14+ days of transaction history, the system seamlessly transitions from cohort priors to personalized Prophet parameter estimation with zero user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836068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Multi-Currency &amp; Real-Time FX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188493"/>
            <a:ext cx="4914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The schema supports native multi-currency ledgers via normalized ISO-4217 currency tables. Automated exchange rate synchronization calculates consolidated net-worth values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945731"/>
            <a:ext cx="4914900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Composite B-Tree indexes on (user_id, currency_code, transaction_date) preserve sub-20ms multi-currency query performance regardless of international transaction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Dynamic Adaptability in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65176"/>
            <a:ext cx="5467350" cy="29086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65176"/>
            <a:ext cx="5467350" cy="29086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0" y="519112"/>
            <a:ext cx="13239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41401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Data Privacy &amp; Portability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641401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System 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993826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Bcrypt Salted Hashing: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Passwords hashed with work factor 12, preventing rainbow table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49478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Stateless JWT Authentication: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Short-lived access tokens paired with secure HTTP-only refresh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995737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Instant Exportability: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Full financial autonomy via one-click encrypted CSV and signed PDF statement downloads.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49669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Role-Based Access (RBAC):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Strict tenant isolation preventing cross-account access breaches.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993826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Containerized Stack: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One-command setup using Docker Compose for PostgreSQL, FastAPI, and React.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49478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Versioned DDL Migrations: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Alembic tracking ensures database schemas can be stood up deterministically.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995737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Automated Test Harness: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Pytest suites verifying ACID rollbacks, SQL triggers, and ML inference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49669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Synthetic Data Seeders: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Generates 100k normalized records for instant benchmarking and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99382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49478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995737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49669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99382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49478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995737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49669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Security, Privacy &amp; Reproducibility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609725"/>
            <a:ext cx="666750" cy="66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30816" y="2505075"/>
            <a:ext cx="2930366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352800"/>
            <a:ext cx="6477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We extend our sincere gratitude to the evaluation committee and review panel for their invaluable time, guidance, and constructive evaluation throughout this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2312" y="5086350"/>
            <a:ext cx="5667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JetBrains Mono"/>
              </a:rPr>
              <a:t>Department of Computer Science &amp; Engineering • Academic Year 2025-2026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790700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037" y="4410075"/>
            <a:ext cx="2038350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737" y="4410075"/>
            <a:ext cx="2143125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212" y="4410075"/>
            <a:ext cx="1809750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2608" y="4539277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604" y="4514850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4982" y="4530366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690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JetBrains Mono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sukhavasi yaswanth kumar</cp:lastModifiedBy>
  <cp:revision>7</cp:revision>
  <dcterms:created xsi:type="dcterms:W3CDTF">2013-01-27T09:14:16Z</dcterms:created>
  <dcterms:modified xsi:type="dcterms:W3CDTF">2026-09-18T08:28:46Z</dcterms:modified>
  <cp:category/>
</cp:coreProperties>
</file>