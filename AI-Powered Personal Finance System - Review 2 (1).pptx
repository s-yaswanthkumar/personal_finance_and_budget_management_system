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8.png"/><Relationship Id="rId12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2.png"/><Relationship Id="rId5" Type="http://schemas.openxmlformats.org/officeDocument/2006/relationships/image" Target="../media/image28.png"/><Relationship Id="rId10" Type="http://schemas.openxmlformats.org/officeDocument/2006/relationships/image" Target="../media/image31.png"/><Relationship Id="rId4" Type="http://schemas.openxmlformats.org/officeDocument/2006/relationships/image" Target="../media/image27.png"/><Relationship Id="rId9" Type="http://schemas.openxmlformats.org/officeDocument/2006/relationships/image" Target="../media/image17.png"/><Relationship Id="rId1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8.png"/><Relationship Id="rId9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3797498"/>
            <a:ext cx="9048750" cy="1047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4216598"/>
            <a:ext cx="1622970" cy="466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020" y="4216598"/>
            <a:ext cx="1623119" cy="466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4440" y="4216598"/>
            <a:ext cx="1622970" cy="466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1710" y="4216598"/>
            <a:ext cx="1623119" cy="4667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9130" y="4216598"/>
            <a:ext cx="1622970" cy="4667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4437" y="1736526"/>
            <a:ext cx="2143125" cy="285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0570" y="2174676"/>
            <a:ext cx="6870858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95"/>
              </a:lnSpc>
            </a:pPr>
            <a:r>
              <a:rPr sz="3300" b="0" i="0" u="none" dirty="0">
                <a:solidFill>
                  <a:srgbClr val="F8FAFC"/>
                </a:solidFill>
                <a:latin typeface="Plus Jakarta Sans ExtraBold"/>
              </a:rPr>
              <a:t>AI-Powered Personal Finance &amp;</a:t>
            </a:r>
            <a:r>
              <a:rPr dirty="0"/>
              <a:t>
</a:t>
            </a:r>
            <a:r>
              <a:rPr sz="3300" b="0" i="0" u="none" dirty="0">
                <a:solidFill>
                  <a:srgbClr val="34D399"/>
                </a:solidFill>
                <a:latin typeface="Plus Jakarta Sans ExtraBold"/>
              </a:rPr>
              <a:t>Predictive Budget </a:t>
            </a:r>
            <a:r>
              <a:rPr lang="en-IN" sz="3300" dirty="0">
                <a:solidFill>
                  <a:srgbClr val="34D399"/>
                </a:solidFill>
                <a:latin typeface="Plus Jakarta Sans ExtraBold"/>
              </a:rPr>
              <a:t>Management </a:t>
            </a:r>
            <a:r>
              <a:rPr sz="3300" b="0" i="0" u="none" dirty="0">
                <a:solidFill>
                  <a:srgbClr val="34D399"/>
                </a:solidFill>
                <a:latin typeface="Plus Jakarta Sans ExtraBold"/>
              </a:rPr>
              <a:t>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425" y="3252787"/>
            <a:ext cx="7677150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Literature Review, Paper Analysis, Technical Gap Identification, and Hybrid AI-DBMS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6315075"/>
            <a:ext cx="2724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Department of Computer Science &amp;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0325" y="6315075"/>
            <a:ext cx="1504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Evaluation Stage: Review 2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8226" y="1817489"/>
            <a:ext cx="123825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09750" y="3959423"/>
            <a:ext cx="8572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4D399"/>
                </a:solidFill>
                <a:latin typeface="Plus Jakarta Sans"/>
              </a:rPr>
              <a:t>PROJECT DEVELOPMENT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6425" y="4302323"/>
            <a:ext cx="148962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8FAFC"/>
                </a:solidFill>
                <a:latin typeface="Plus Jakarta Sans SemiBold"/>
              </a:rPr>
              <a:t>S. Yaswanth 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6425" y="4473773"/>
            <a:ext cx="148962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2510030264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3695" y="4302323"/>
            <a:ext cx="148976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8FAFC"/>
                </a:solidFill>
                <a:latin typeface="Plus Jakarta Sans SemiBold"/>
              </a:rPr>
              <a:t>Veda Praneeth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3695" y="4473773"/>
            <a:ext cx="1489769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2510030069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1115" y="4302323"/>
            <a:ext cx="148962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 dirty="0" err="1">
                <a:solidFill>
                  <a:srgbClr val="F8FAFC"/>
                </a:solidFill>
                <a:latin typeface="Plus Jakarta Sans SemiBold"/>
              </a:rPr>
              <a:t>Nikil</a:t>
            </a:r>
            <a:r>
              <a:rPr lang="en-US" sz="975" b="0" i="0" u="none" dirty="0" err="1">
                <a:solidFill>
                  <a:srgbClr val="F8FAFC"/>
                </a:solidFill>
                <a:latin typeface="Plus Jakarta Sans SemiBold"/>
              </a:rPr>
              <a:t>eshwar</a:t>
            </a:r>
            <a:endParaRPr sz="975" b="0" i="0" u="none" dirty="0">
              <a:solidFill>
                <a:srgbClr val="F8FAFC"/>
              </a:solidFill>
              <a:latin typeface="Plus Jakarta Sans Semi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51115" y="4473773"/>
            <a:ext cx="148962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2510030358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8385" y="4302323"/>
            <a:ext cx="148976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8FAFC"/>
                </a:solidFill>
                <a:latin typeface="Plus Jakarta Sans SemiBold"/>
              </a:rPr>
              <a:t>M. Jashwanth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8385" y="4473773"/>
            <a:ext cx="1489769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2510030196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5805" y="4302323"/>
            <a:ext cx="148962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8FAFC"/>
                </a:solidFill>
                <a:latin typeface="Plus Jakarta Sans SemiBold"/>
              </a:rPr>
              <a:t>Ruthvik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5805" y="4473773"/>
            <a:ext cx="148962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2510030348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843087"/>
            <a:ext cx="11258550" cy="3590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428625"/>
            <a:ext cx="2286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725" y="6315075"/>
            <a:ext cx="1543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0825" y="6315075"/>
            <a:ext cx="1314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Paper Survey (4 Papers)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6250" y="1852612"/>
          <a:ext cx="11239499" cy="3571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2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Authors &amp; 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Focus &amp; Methodology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Key Findings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Identified Limitations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Lewis et al. (2022)</a:t>
                      </a:r>
                      <a:r>
                        <a:t>
</a:t>
                      </a:r>
                      <a:r>
                        <a:rPr sz="1012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IEEE / arXiv (2024)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SVM &amp; NLP for bank transaction description classification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High classification accuracy on clean short-text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Offline script execution; no database trigger or schema link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Carter et al. (2023)</a:t>
                      </a:r>
                      <a:r>
                        <a:t>
</a:t>
                      </a:r>
                      <a:r>
                        <a:rPr sz="1012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K.U. Leuven / Springer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Cash flow forecasting using Prophet, ARIMA &amp; LSTM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LSTM &amp; Prophet outperform traditional statistical models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Tested on static CSVs; lacks ACID multi-account transfer logic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Yadav et al. (2025)</a:t>
                      </a:r>
                      <a:r>
                        <a:t>
</a:t>
                      </a:r>
                      <a:r>
                        <a:rPr sz="1012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IJERT Vol. 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Web-based personal budget tracker using Linear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Demonstrates simple web UI and basic monthly expense tracking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Relies purely on app-layer validation; vulnerable to race conditions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Sharma et al. (2021)</a:t>
                      </a:r>
                      <a:r>
                        <a:t>
</a:t>
                      </a:r>
                      <a:r>
                        <a:rPr sz="1012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IEEE Conference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Predictive analytics for personal savings &amp; budget advisory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Improved savings rates via periodic ML budget recommendations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Lacks sub-20ms database indexing &amp; real-time transaction hooks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76250" y="2362200"/>
            <a:ext cx="13823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58565" y="2362200"/>
            <a:ext cx="31621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0716" y="2362200"/>
            <a:ext cx="33830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03728" y="2362200"/>
            <a:ext cx="33120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6250" y="3086100"/>
            <a:ext cx="13823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58565" y="3086100"/>
            <a:ext cx="31621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0716" y="3086100"/>
            <a:ext cx="33830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03728" y="3086100"/>
            <a:ext cx="33120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6250" y="3971925"/>
            <a:ext cx="13823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58565" y="3971925"/>
            <a:ext cx="31621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0716" y="3971925"/>
            <a:ext cx="33830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03728" y="3971925"/>
            <a:ext cx="33120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6250" y="4695825"/>
            <a:ext cx="13823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58565" y="4695825"/>
            <a:ext cx="31621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0716" y="4695825"/>
            <a:ext cx="33830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03728" y="4695825"/>
            <a:ext cx="33120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625" y="390525"/>
            <a:ext cx="113823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Academic Papers </a:t>
            </a:r>
            <a:r>
              <a:rPr sz="2400" b="1" i="0" u="none">
                <a:solidFill>
                  <a:srgbClr val="34D399"/>
                </a:solidFill>
                <a:latin typeface="Plus Jakarta Sans"/>
              </a:rPr>
              <a:t>Analyzed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725" y="885825"/>
            <a:ext cx="112585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578000"/>
            <a:ext cx="3625750" cy="212109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975" y="2578000"/>
            <a:ext cx="3625899" cy="212109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375" y="2578000"/>
            <a:ext cx="3625750" cy="212109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428625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725" y="6315075"/>
            <a:ext cx="15621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Paradigm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96475" y="6315075"/>
            <a:ext cx="1828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State-of-the-Art Categorization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797075"/>
            <a:ext cx="400050" cy="400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3292375"/>
            <a:ext cx="334698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1. Traditional Relational Trackers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06700"/>
            <a:ext cx="318760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Enforces foreign key constraints and basic CRUD tables for logging transactions and account balances.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260949"/>
            <a:ext cx="178117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2050" y="2797075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050" y="3292375"/>
            <a:ext cx="334713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2. Commercial Budgeting Apps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050" y="3606700"/>
            <a:ext cx="3187749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Apps like Mint and YNAB offer rule-based category caps and manual transaction tagging UIs.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2050" y="4260949"/>
            <a:ext cx="179070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8450" y="2797075"/>
            <a:ext cx="400050" cy="4000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8450" y="3292375"/>
            <a:ext cx="334698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3. Standalone ML Predictors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450" y="3606700"/>
            <a:ext cx="318760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Research papers exploring standalone Prophet cash flow models and NLP categorization scripts.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8450" y="4260949"/>
            <a:ext cx="1724025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25" y="2911375"/>
            <a:ext cx="1524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35400" y="2911375"/>
            <a:ext cx="1333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32750" y="2911375"/>
            <a:ext cx="171450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23925" y="390525"/>
            <a:ext cx="112680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Literature Paradigm </a:t>
            </a:r>
            <a:r>
              <a:rPr sz="2400" b="1" i="0" u="none">
                <a:solidFill>
                  <a:srgbClr val="34D399"/>
                </a:solidFill>
                <a:latin typeface="Plus Jakarta Sans"/>
              </a:rPr>
              <a:t>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725" y="885825"/>
            <a:ext cx="112585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932384"/>
            <a:ext cx="5543550" cy="16204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1932384"/>
            <a:ext cx="5543550" cy="16204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3724275"/>
            <a:ext cx="5543550" cy="16204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3724275"/>
            <a:ext cx="5543550" cy="16204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428625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725" y="6315075"/>
            <a:ext cx="1266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Gap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3225" y="6315075"/>
            <a:ext cx="1162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Problem Formulation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151459"/>
            <a:ext cx="400050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2646759"/>
            <a:ext cx="536067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1. Application-Layer Reliance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61084"/>
            <a:ext cx="510540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Validation handled purely in backend scripts causes race conditions and allows direct overspend check bypasses during concurrent writes.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151459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2646759"/>
            <a:ext cx="536067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2. Reactive Alerting Mechanism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61084"/>
            <a:ext cx="510540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Existing applications alert users </a:t>
            </a:r>
            <a:r>
              <a:rPr sz="1012" b="0" i="1" u="none">
                <a:solidFill>
                  <a:srgbClr val="94A3B8"/>
                </a:solidFill>
                <a:latin typeface="Plus Jakarta Sans"/>
              </a:rPr>
              <a:t>after</a:t>
            </a:r>
            <a:r>
              <a:rPr sz="1012" b="0" i="0" u="none">
                <a:solidFill>
                  <a:srgbClr val="94A3B8"/>
                </a:solidFill>
                <a:latin typeface="Plus Jakarta Sans"/>
              </a:rPr>
              <a:t> budget thresholds are hit, rather than forecasting 30-day trajectories before breaches occur.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943350"/>
            <a:ext cx="400050" cy="400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" y="4438650"/>
            <a:ext cx="536067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3. Query Latency &amp; Anomalies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52975"/>
            <a:ext cx="510540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Unnormalized spreadsheet or NoSQL setups suffer from insertion/deletion anomalies and multi-table join query latency (&gt;100ms).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943350"/>
            <a:ext cx="400050" cy="4000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0" y="4438650"/>
            <a:ext cx="536067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4. Disconnected ML &amp; Ledger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52975"/>
            <a:ext cx="510540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Standalone ML prediction pipelines operate completely disconnected from multi-account ACID transactional rollback procedures.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6287" y="2265759"/>
            <a:ext cx="219075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2265759"/>
            <a:ext cx="17145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4057650"/>
            <a:ext cx="171450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1287" y="4057650"/>
            <a:ext cx="219075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85825" y="390525"/>
            <a:ext cx="113061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Identified Technical </a:t>
            </a:r>
            <a:r>
              <a:rPr sz="2400" b="1" i="0" u="none">
                <a:solidFill>
                  <a:srgbClr val="34D399"/>
                </a:solidFill>
                <a:latin typeface="Plus Jakarta Sans"/>
              </a:rPr>
              <a:t>Gaps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725" y="885825"/>
            <a:ext cx="112585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243137"/>
            <a:ext cx="11258550" cy="2790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428625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725" y="6315075"/>
            <a:ext cx="1381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Gap 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15075"/>
            <a:ext cx="2124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State-of-the-Art Feature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6250" y="2252662"/>
          <a:ext cx="11239498" cy="2771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4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5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7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79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967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Feature / Technical Capability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Lewis et al. (2022)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Carter et al. (2023)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Yadav et al. (2025)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Commercial Apps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Our Hybrid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96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3NF Relational Schema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BBF24"/>
                          </a:solidFill>
                          <a:latin typeface="Plus Jakarta Sans SemiBold"/>
                        </a:rPr>
                        <a:t>Partial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BBF24"/>
                          </a:solidFill>
                          <a:latin typeface="Plus Jakarta Sans SemiBold"/>
                        </a:rPr>
                        <a:t>Proprietary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100% 3NF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96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Real-Time SQL Triggers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BEFORE INSERT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96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ACID Multi-Account Transfers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BBF24"/>
                          </a:solidFill>
                          <a:latin typeface="Plus Jakarta Sans SemiBold"/>
                        </a:rPr>
                        <a:t>Partial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Full Rollback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96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30-Day ML Cash Flow Forecast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Yes (Offline)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Prophet / Views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96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NLP Merchant Auto-Tagging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BBF24"/>
                          </a:solidFill>
                          <a:latin typeface="Plus Jakarta Sans SemiBold"/>
                        </a:rPr>
                        <a:t>Rule-based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&gt;95% Accuracy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973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Sub-20ms Indexed Queries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N/A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N/A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B-Tree Indexing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76250" y="2619375"/>
            <a:ext cx="26339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10210" y="2619375"/>
            <a:ext cx="16737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83931" y="2619375"/>
            <a:ext cx="179442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78351" y="2619375"/>
            <a:ext cx="1715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94042" y="2619375"/>
            <a:ext cx="16737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967763" y="2619375"/>
            <a:ext cx="17479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6250" y="3019425"/>
            <a:ext cx="263396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10210" y="301942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83931" y="3019425"/>
            <a:ext cx="179442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78351" y="3019425"/>
            <a:ext cx="17156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94042" y="301942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967763" y="3019425"/>
            <a:ext cx="17479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6250" y="3419475"/>
            <a:ext cx="263396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10210" y="341947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83931" y="3419475"/>
            <a:ext cx="179442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78351" y="3419475"/>
            <a:ext cx="17156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94042" y="341947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67763" y="3419475"/>
            <a:ext cx="17479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6250" y="3819525"/>
            <a:ext cx="263396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110210" y="381952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83931" y="3819525"/>
            <a:ext cx="179442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78351" y="3819525"/>
            <a:ext cx="17156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94042" y="381952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967763" y="3819525"/>
            <a:ext cx="17479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6250" y="4219575"/>
            <a:ext cx="263396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10210" y="421957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83931" y="4219575"/>
            <a:ext cx="179442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78351" y="4219575"/>
            <a:ext cx="17156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94042" y="421957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967763" y="4219575"/>
            <a:ext cx="17479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6250" y="4619625"/>
            <a:ext cx="263396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110210" y="461962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783931" y="4619625"/>
            <a:ext cx="179442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578351" y="4619625"/>
            <a:ext cx="17156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94042" y="461962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967763" y="4619625"/>
            <a:ext cx="17479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1524" y="2776537"/>
            <a:ext cx="114300" cy="128587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9512" y="3176587"/>
            <a:ext cx="114300" cy="128587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2282" y="3567112"/>
            <a:ext cx="114300" cy="128587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1524" y="3967162"/>
            <a:ext cx="114300" cy="128587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2282" y="4347163"/>
            <a:ext cx="114300" cy="128587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2282" y="4760119"/>
            <a:ext cx="114300" cy="12858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85825" y="390525"/>
            <a:ext cx="113061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Comparative Feature </a:t>
            </a:r>
            <a:r>
              <a:rPr sz="2400" b="1" i="0" u="none">
                <a:solidFill>
                  <a:srgbClr val="34D399"/>
                </a:solidFill>
                <a:latin typeface="Plus Jakarta Sans"/>
              </a:rPr>
              <a:t>Matrix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725" y="885825"/>
            <a:ext cx="112585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28800"/>
            <a:ext cx="54768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428625"/>
            <a:ext cx="2286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725" y="6315075"/>
            <a:ext cx="1724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2725" y="6315075"/>
            <a:ext cx="1352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Proposed Hybrid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2599729"/>
            <a:ext cx="5191125" cy="409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1" i="0" u="none">
                <a:solidFill>
                  <a:srgbClr val="F8FAFC"/>
                </a:solidFill>
                <a:latin typeface="Plus Jakarta Sans"/>
              </a:rPr>
              <a:t>Hybrid DB-AI Engine: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Native SQL BEFORE INSERT triggers combined with real-time ML inference for proactive overspend prevention.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3162002"/>
            <a:ext cx="5191125" cy="409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1" i="0" u="none">
                <a:solidFill>
                  <a:srgbClr val="F8FAFC"/>
                </a:solidFill>
                <a:latin typeface="Plus Jakarta Sans"/>
              </a:rPr>
              <a:t>30-Day Cash Flow Forecasting: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Integrated Prophet / LSTM models fed directly by optimized vw_monthly_summary database views.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724275"/>
            <a:ext cx="5172075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1" i="0" u="none">
                <a:solidFill>
                  <a:srgbClr val="F8FAFC"/>
                </a:solidFill>
                <a:latin typeface="Plus Jakarta Sans"/>
              </a:rPr>
              <a:t>NLP Auto-Categorization: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Automated parsing of raw merchant strings (`"AMZN Mktp US"`) with &gt;95% classification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4277022"/>
            <a:ext cx="5210175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1" i="0" u="none">
                <a:solidFill>
                  <a:srgbClr val="F8FAFC"/>
                </a:solidFill>
                <a:latin typeface="Plus Jakarta Sans"/>
              </a:rPr>
              <a:t>Sub-20ms Query Speed: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3NF normalized relational schema with B-Tree composite indexing and ACID-compliant multi-account transactions.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2614017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3176289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3738562"/>
            <a:ext cx="1905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4291310"/>
            <a:ext cx="152400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9625" y="390525"/>
            <a:ext cx="113823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Proposed System </a:t>
            </a:r>
            <a:r>
              <a:rPr sz="2400" b="1" i="0" u="none">
                <a:solidFill>
                  <a:srgbClr val="34D399"/>
                </a:solidFill>
                <a:latin typeface="Plus Jakarta Sans"/>
              </a:rPr>
              <a:t>Novelty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725" y="885825"/>
            <a:ext cx="112585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1CE7E02-2740-D2BA-64BB-A680530C23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7450" y="1828800"/>
            <a:ext cx="5457825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641996"/>
            <a:ext cx="3625750" cy="19931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975" y="2641996"/>
            <a:ext cx="3625899" cy="19931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375" y="2641996"/>
            <a:ext cx="3625750" cy="19931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428625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725" y="6315075"/>
            <a:ext cx="1828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Technical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44225" y="6315075"/>
            <a:ext cx="781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Novelty Pillars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861071"/>
            <a:ext cx="400050" cy="400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3356371"/>
            <a:ext cx="334698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1. DB-Enforced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70696"/>
            <a:ext cx="3187600" cy="745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Unlike Yadav et al. and commercial apps that validate spend limits in app-layer scripts, our system places active triggers inside the DB engine to prevent race conditions.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2050" y="2861071"/>
            <a:ext cx="400050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02050" y="3356371"/>
            <a:ext cx="334713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2. Dynamic DB-ML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2050" y="3670696"/>
            <a:ext cx="3187749" cy="745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Unlike Carter et al. and Lewis et al. where ML runs on static CSVs, our Prophet and NLP pipelines query B-Tree indexed SQL views (`vw_monthly_summary`) dynamically.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8450" y="2861071"/>
            <a:ext cx="400050" cy="400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18450" y="3356371"/>
            <a:ext cx="334698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3. Multi-Account ACID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8450" y="3670696"/>
            <a:ext cx="318760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Combines predictive AI auto-tagging with strict 3NF multi-account transactional rollbacks, guaranteeing balance consistency if any database write fails.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975371"/>
            <a:ext cx="1714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6350" y="2975371"/>
            <a:ext cx="17145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42275" y="2975371"/>
            <a:ext cx="15240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5825" y="390525"/>
            <a:ext cx="113061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Key Novelty </a:t>
            </a:r>
            <a:r>
              <a:rPr sz="2400" b="1" i="0" u="none">
                <a:solidFill>
                  <a:srgbClr val="34D399"/>
                </a:solidFill>
                <a:latin typeface="Plus Jakarta Sans"/>
              </a:rPr>
              <a:t>Distinctions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725" y="885825"/>
            <a:ext cx="112585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37" y="2339875"/>
            <a:ext cx="1762125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0820" y="2778025"/>
            <a:ext cx="2870358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0" i="0" u="none">
                <a:solidFill>
                  <a:srgbClr val="F8FAFC"/>
                </a:solidFill>
                <a:latin typeface="Plus Jakarta Sans ExtraBold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95700" y="3483768"/>
            <a:ext cx="4800600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34D399"/>
                </a:solidFill>
                <a:latin typeface="Plus Jakarta Sans SemiBold"/>
              </a:rPr>
              <a:t>AI-Powered Personal Finance &amp; Predictive Budget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9462" y="3799879"/>
            <a:ext cx="555307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We welcome your questions, feedback, and technical guidance for Review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725" y="6315075"/>
            <a:ext cx="1609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DBMS &amp; AI Project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53550" y="6315075"/>
            <a:ext cx="2371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Literature Review &amp; Gap Analysis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0662" y="2420837"/>
            <a:ext cx="152400" cy="123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746</Words>
  <Application>Microsoft Office PowerPoint</Application>
  <PresentationFormat>Widescreen</PresentationFormat>
  <Paragraphs>124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sukhavasi yaswanth kumar</cp:lastModifiedBy>
  <cp:revision>4</cp:revision>
  <dcterms:created xsi:type="dcterms:W3CDTF">2013-01-27T09:14:16Z</dcterms:created>
  <dcterms:modified xsi:type="dcterms:W3CDTF">2026-08-18T05:37:56Z</dcterms:modified>
  <cp:category/>
</cp:coreProperties>
</file>